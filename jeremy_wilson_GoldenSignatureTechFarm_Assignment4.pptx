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83" d="100"/>
          <a:sy n="283" d="100"/>
        </p:scale>
        <p:origin x="462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961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Greetings, my name is Jeremy Wilson, and welcome to Golden Signature Tech Farm. I'm a cloud engineer by trade — and I'm building something I truly believe in out in Kemp, Texas. This presentation will walk you through our company, the positions we're hiring for, our workspace, and why this might be the most exciting place to build a career.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"Golden Signature Tech Farm is a dual-mission venture based in Kemp, Texas. On one side, we're a working commercial market garden — growing produce for CSA subscribers and local farmers markets right here in Kaufman County. On the other side, we run tech education programs for rural youth between 10 and 18 years old, covering cloud computing, coding, IoT, and agricultural automation.
The thing that makes us different, is that. Kids don't just learn about cloud tech in a classroom. They see it running the irrigation system in the field. That's the Golden Signature difference."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farm launched, the CSA filled up faster than we projected, and now we need people. We're hiring five full-time positions across both sides of the operation. A Farm Operations Lead to own the market garden day-to-day. An Agricultural Tech Engineer to keep our IoT and cloud monitoring systems running. A Tech Education Coordinator to build and deliver our youth programs. A Market and CSA Coordinator to manage our subscriber base and community presence. And a Cloud Infrastructure Specialist to scale our AWS platform as the operation grows. These are real roles doing real work at the intersection of agriculture and technology — and we're ready to move."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"Our workspace is three distinct environments on the same property. The Tech Hub is an open-plan command center where the team monitors live farm data through AWS dashboards — every wall is a writable surface, standing desks, natural light throughout. The Greenhouse Lab is where hardware and biology share the same room — IoT rigs are built and tested right alongside live growing systems. And the Learning Barn is a converted barn with maker-station tables and projection capability for youth sessions and community workshops.
The design philosophy is deliberate: natural light everywhere, plants integrated throughout the work environment, flexible zones for focused versus collaborative work, outdoor breakout areas literally surrounded by crops. No cubicles. No cages."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"Our perks are real and they fit the life we're building. Every team member gets a weekly fresh produce share from our harvest. We fund AWS certifications because the team's cloud skills are the company's cloud skills. We run on flexible schedules that respect the farm's rhythm. We set aside dedicated maker time each week for personal tinkering and project work. And because this is mission-driven work, you'll be known in the Kemp community for something that actually matters — helping young people find their path in tech."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"Our culture wasn't designed in a meeting room. It came from what this work demands. We believe in curiosity over comfort — we try things that haven't been tried before, and we're okay when they don't work on the first pass. We have real respect for the land, because if you've ever grown something, you know what patience and timing actually mean — and those carry directly into engineering. Community first is non-negotiable — every major decision gets filtered through whether it serves Kaufman County. And we run on an ownership mentality. Small team. If something's broken, you fix it. No silos, no finger-pointing. Just people who care."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you've made it this far, you probably already feel it — Golden Signature Tech Farm isn't a typical opportunity. We're at the intersection of agriculture and technology, building a model that serves the land, the community, and the next generation of engineers at the same time. We're growing fast, we're hiring now, and we want people ready to build something that lasts. Reach us at goldensignaturetechfarm@gmail.com. Thank you."
---
TOTAL NARRATION TARGET: ~3.5 to 4 minutes at a comfortable pace.
REFERENCES (4 sources, min 3 required, 2+ from outside required reading):
1. Gensler U.S. Workplace Survey 2024
2. Pink, D.H. (2009). Drive.
3. Kellert, Heerwagen &amp; Mador (2008). Biophilic Design.
4. USDA Economic Research Service (2023). Rural Economy and Agriculture.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64008"/>
            <a:ext cx="5212080" cy="5079492"/>
          </a:xfrm>
          <a:prstGeom prst="rect">
            <a:avLst/>
          </a:prstGeom>
          <a:solidFill>
            <a:srgbClr val="1B4332"/>
          </a:solidFill>
          <a:ln w="12700">
            <a:solidFill>
              <a:srgbClr val="1B4332"/>
            </a:solidFill>
            <a:prstDash val="solid"/>
          </a:ln>
        </p:spPr>
        <p:txBody>
          <a:bodyPr/>
          <a:lstStyle/>
          <a:p>
            <a:endParaRPr lang="en-US"/>
          </a:p>
        </p:txBody>
      </p:sp>
      <p:sp>
        <p:nvSpPr>
          <p:cNvPr id="4" name="Text 2"/>
          <p:cNvSpPr/>
          <p:nvPr/>
        </p:nvSpPr>
        <p:spPr>
          <a:xfrm>
            <a:off x="347472" y="457200"/>
            <a:ext cx="4572000" cy="411480"/>
          </a:xfrm>
          <a:prstGeom prst="rect">
            <a:avLst/>
          </a:prstGeom>
          <a:noFill/>
          <a:ln/>
        </p:spPr>
        <p:txBody>
          <a:bodyPr wrap="square" rtlCol="0" anchor="ctr"/>
          <a:lstStyle/>
          <a:p>
            <a:pPr marL="0" indent="0" algn="l">
              <a:buNone/>
            </a:pPr>
            <a:r>
              <a:rPr lang="en-US" sz="2000" b="1" kern="0" spc="400" dirty="0">
                <a:solidFill>
                  <a:srgbClr val="52B788"/>
                </a:solidFill>
              </a:rPr>
              <a:t>GOLDEN SIGNATURE</a:t>
            </a:r>
            <a:endParaRPr lang="en-US" sz="2000" dirty="0"/>
          </a:p>
        </p:txBody>
      </p:sp>
      <p:sp>
        <p:nvSpPr>
          <p:cNvPr id="5" name="Text 3"/>
          <p:cNvSpPr/>
          <p:nvPr/>
        </p:nvSpPr>
        <p:spPr>
          <a:xfrm>
            <a:off x="347472" y="841248"/>
            <a:ext cx="4572000" cy="822960"/>
          </a:xfrm>
          <a:prstGeom prst="rect">
            <a:avLst/>
          </a:prstGeom>
          <a:noFill/>
          <a:ln/>
        </p:spPr>
        <p:txBody>
          <a:bodyPr wrap="square" rtlCol="0" anchor="ctr"/>
          <a:lstStyle/>
          <a:p>
            <a:pPr marL="0" indent="0" algn="l">
              <a:buNone/>
            </a:pPr>
            <a:r>
              <a:rPr lang="en-US" sz="4400" b="1" dirty="0">
                <a:solidFill>
                  <a:srgbClr val="FFFFFF"/>
                </a:solidFill>
              </a:rPr>
              <a:t>TECH FARM</a:t>
            </a:r>
            <a:endParaRPr lang="en-US" sz="4400" dirty="0"/>
          </a:p>
        </p:txBody>
      </p:sp>
      <p:sp>
        <p:nvSpPr>
          <p:cNvPr id="6" name="Text 4"/>
          <p:cNvSpPr/>
          <p:nvPr/>
        </p:nvSpPr>
        <p:spPr>
          <a:xfrm>
            <a:off x="347472" y="1664208"/>
            <a:ext cx="4572000" cy="347472"/>
          </a:xfrm>
          <a:prstGeom prst="rect">
            <a:avLst/>
          </a:prstGeom>
          <a:noFill/>
          <a:ln/>
        </p:spPr>
        <p:txBody>
          <a:bodyPr wrap="square" rtlCol="0" anchor="ctr"/>
          <a:lstStyle/>
          <a:p>
            <a:pPr marL="0" indent="0" algn="l">
              <a:buNone/>
            </a:pPr>
            <a:r>
              <a:rPr lang="en-US" sz="1300" i="1" dirty="0">
                <a:solidFill>
                  <a:srgbClr val="74C69D"/>
                </a:solidFill>
              </a:rPr>
              <a:t>Where Nature Meets Innovation</a:t>
            </a:r>
            <a:endParaRPr lang="en-US" sz="1300" dirty="0"/>
          </a:p>
        </p:txBody>
      </p:sp>
      <p:sp>
        <p:nvSpPr>
          <p:cNvPr id="7" name="Shape 5"/>
          <p:cNvSpPr/>
          <p:nvPr/>
        </p:nvSpPr>
        <p:spPr>
          <a:xfrm>
            <a:off x="347472" y="2157984"/>
            <a:ext cx="2926080" cy="45720"/>
          </a:xfrm>
          <a:prstGeom prst="rect">
            <a:avLst/>
          </a:prstGeom>
          <a:solidFill>
            <a:srgbClr val="52B788"/>
          </a:solidFill>
          <a:ln w="12700">
            <a:solidFill>
              <a:srgbClr val="52B788"/>
            </a:solidFill>
            <a:prstDash val="solid"/>
          </a:ln>
        </p:spPr>
        <p:txBody>
          <a:bodyPr/>
          <a:lstStyle/>
          <a:p>
            <a:endParaRPr lang="en-US"/>
          </a:p>
        </p:txBody>
      </p:sp>
      <p:sp>
        <p:nvSpPr>
          <p:cNvPr id="8" name="Text 6"/>
          <p:cNvSpPr/>
          <p:nvPr/>
        </p:nvSpPr>
        <p:spPr>
          <a:xfrm>
            <a:off x="347472" y="2331720"/>
            <a:ext cx="4572000" cy="274320"/>
          </a:xfrm>
          <a:prstGeom prst="rect">
            <a:avLst/>
          </a:prstGeom>
          <a:noFill/>
          <a:ln/>
        </p:spPr>
        <p:txBody>
          <a:bodyPr wrap="square" rtlCol="0" anchor="ctr"/>
          <a:lstStyle/>
          <a:p>
            <a:pPr marL="0" indent="0" algn="l">
              <a:buNone/>
            </a:pPr>
            <a:r>
              <a:rPr lang="en-US" sz="1300" b="1" dirty="0">
                <a:solidFill>
                  <a:srgbClr val="FFFFFF"/>
                </a:solidFill>
              </a:rPr>
              <a:t>Assignment 4:</a:t>
            </a:r>
            <a:endParaRPr lang="en-US" sz="1300" dirty="0"/>
          </a:p>
        </p:txBody>
      </p:sp>
      <p:sp>
        <p:nvSpPr>
          <p:cNvPr id="9" name="Text 7"/>
          <p:cNvSpPr/>
          <p:nvPr/>
        </p:nvSpPr>
        <p:spPr>
          <a:xfrm>
            <a:off x="347472" y="2587752"/>
            <a:ext cx="4572000" cy="502920"/>
          </a:xfrm>
          <a:prstGeom prst="rect">
            <a:avLst/>
          </a:prstGeom>
          <a:noFill/>
          <a:ln/>
        </p:spPr>
        <p:txBody>
          <a:bodyPr wrap="square" rtlCol="0" anchor="ctr"/>
          <a:lstStyle/>
          <a:p>
            <a:pPr marL="0" indent="0" algn="l">
              <a:buNone/>
            </a:pPr>
            <a:r>
              <a:rPr lang="en-US" sz="1300" dirty="0">
                <a:solidFill>
                  <a:srgbClr val="F0F4EF"/>
                </a:solidFill>
              </a:rPr>
              <a:t>Designing Your Company's Work Environment</a:t>
            </a:r>
            <a:endParaRPr lang="en-US" sz="1300" dirty="0"/>
          </a:p>
        </p:txBody>
      </p:sp>
      <p:sp>
        <p:nvSpPr>
          <p:cNvPr id="10" name="Text 8"/>
          <p:cNvSpPr/>
          <p:nvPr/>
        </p:nvSpPr>
        <p:spPr>
          <a:xfrm>
            <a:off x="347472" y="3310128"/>
            <a:ext cx="4572000" cy="292608"/>
          </a:xfrm>
          <a:prstGeom prst="rect">
            <a:avLst/>
          </a:prstGeom>
          <a:noFill/>
          <a:ln/>
        </p:spPr>
        <p:txBody>
          <a:bodyPr wrap="square" rtlCol="0" anchor="ctr"/>
          <a:lstStyle/>
          <a:p>
            <a:pPr marL="0" indent="0" algn="l">
              <a:buNone/>
            </a:pPr>
            <a:r>
              <a:rPr lang="en-US" sz="1150" b="1" dirty="0">
                <a:solidFill>
                  <a:srgbClr val="52B788"/>
                </a:solidFill>
              </a:rPr>
              <a:t>Presented by:  Nyce</a:t>
            </a:r>
            <a:endParaRPr lang="en-US" sz="1150" dirty="0"/>
          </a:p>
        </p:txBody>
      </p:sp>
      <p:sp>
        <p:nvSpPr>
          <p:cNvPr id="11" name="Text 9"/>
          <p:cNvSpPr/>
          <p:nvPr/>
        </p:nvSpPr>
        <p:spPr>
          <a:xfrm>
            <a:off x="347472" y="3611880"/>
            <a:ext cx="4572000" cy="274320"/>
          </a:xfrm>
          <a:prstGeom prst="rect">
            <a:avLst/>
          </a:prstGeom>
          <a:noFill/>
          <a:ln/>
        </p:spPr>
        <p:txBody>
          <a:bodyPr wrap="square" rtlCol="0" anchor="ctr"/>
          <a:lstStyle/>
          <a:p>
            <a:pPr marL="0" indent="0" algn="l">
              <a:buNone/>
            </a:pPr>
            <a:r>
              <a:rPr lang="en-US" sz="1100" dirty="0">
                <a:solidFill>
                  <a:srgbClr val="A8B5A2"/>
                </a:solidFill>
              </a:rPr>
              <a:t>Due: Sunday, Week 3  ·  11:59 PM EST</a:t>
            </a:r>
            <a:endParaRPr lang="en-US" sz="1100" dirty="0"/>
          </a:p>
        </p:txBody>
      </p:sp>
      <p:sp>
        <p:nvSpPr>
          <p:cNvPr id="12" name="Text 10"/>
          <p:cNvSpPr/>
          <p:nvPr/>
        </p:nvSpPr>
        <p:spPr>
          <a:xfrm>
            <a:off x="347472" y="4434840"/>
            <a:ext cx="4572000" cy="274320"/>
          </a:xfrm>
          <a:prstGeom prst="rect">
            <a:avLst/>
          </a:prstGeom>
          <a:noFill/>
          <a:ln/>
        </p:spPr>
        <p:txBody>
          <a:bodyPr wrap="square" rtlCol="0" anchor="ctr"/>
          <a:lstStyle/>
          <a:p>
            <a:pPr marL="0" indent="0" algn="l">
              <a:buNone/>
            </a:pPr>
            <a:r>
              <a:rPr lang="en-US" sz="1000" dirty="0">
                <a:solidFill>
                  <a:srgbClr val="A8B5A2"/>
                </a:solidFill>
              </a:rPr>
              <a:t>Full Sail University  ·  Business Model Development</a:t>
            </a:r>
            <a:endParaRPr lang="en-US" sz="1000" dirty="0"/>
          </a:p>
        </p:txBody>
      </p:sp>
      <p:sp>
        <p:nvSpPr>
          <p:cNvPr id="13" name="Shape 11"/>
          <p:cNvSpPr/>
          <p:nvPr/>
        </p:nvSpPr>
        <p:spPr>
          <a:xfrm>
            <a:off x="5669280" y="457200"/>
            <a:ext cx="3108960" cy="3108960"/>
          </a:xfrm>
          <a:prstGeom prst="ellipse">
            <a:avLst/>
          </a:prstGeom>
          <a:solidFill>
            <a:srgbClr val="2D6A4F"/>
          </a:solidFill>
          <a:ln w="38100">
            <a:solidFill>
              <a:srgbClr val="52B788"/>
            </a:solidFill>
            <a:prstDash val="solid"/>
          </a:ln>
        </p:spPr>
        <p:txBody>
          <a:bodyPr/>
          <a:lstStyle/>
          <a:p>
            <a:endParaRPr lang="en-US"/>
          </a:p>
        </p:txBody>
      </p:sp>
      <p:sp>
        <p:nvSpPr>
          <p:cNvPr id="14" name="Shape 12"/>
          <p:cNvSpPr/>
          <p:nvPr/>
        </p:nvSpPr>
        <p:spPr>
          <a:xfrm>
            <a:off x="6080760" y="868680"/>
            <a:ext cx="2286000" cy="2286000"/>
          </a:xfrm>
          <a:prstGeom prst="ellipse">
            <a:avLst/>
          </a:prstGeom>
          <a:solidFill>
            <a:srgbClr val="0D1B2A"/>
          </a:solidFill>
          <a:ln w="12700">
            <a:solidFill>
              <a:srgbClr val="52B788"/>
            </a:solidFill>
            <a:prstDash val="solid"/>
          </a:ln>
        </p:spPr>
        <p:txBody>
          <a:bodyPr/>
          <a:lstStyle/>
          <a:p>
            <a:endParaRPr lang="en-US"/>
          </a:p>
        </p:txBody>
      </p:sp>
      <p:sp>
        <p:nvSpPr>
          <p:cNvPr id="15" name="Text 13"/>
          <p:cNvSpPr/>
          <p:nvPr/>
        </p:nvSpPr>
        <p:spPr>
          <a:xfrm>
            <a:off x="6080760" y="1325880"/>
            <a:ext cx="2286000" cy="1371600"/>
          </a:xfrm>
          <a:prstGeom prst="rect">
            <a:avLst/>
          </a:prstGeom>
          <a:noFill/>
          <a:ln/>
        </p:spPr>
        <p:txBody>
          <a:bodyPr wrap="square" rtlCol="0" anchor="ctr"/>
          <a:lstStyle/>
          <a:p>
            <a:pPr marL="0" indent="0" algn="ctr">
              <a:buNone/>
            </a:pPr>
            <a:r>
              <a:rPr lang="en-US" sz="4200" dirty="0">
                <a:solidFill>
                  <a:srgbClr val="000000"/>
                </a:solidFill>
              </a:rPr>
              <a:t>🌱💻</a:t>
            </a:r>
            <a:endParaRPr lang="en-US" sz="4200" dirty="0"/>
          </a:p>
        </p:txBody>
      </p:sp>
      <p:sp>
        <p:nvSpPr>
          <p:cNvPr id="16" name="Shape 14"/>
          <p:cNvSpPr/>
          <p:nvPr/>
        </p:nvSpPr>
        <p:spPr>
          <a:xfrm>
            <a:off x="5577840" y="3840480"/>
            <a:ext cx="3291840" cy="1005840"/>
          </a:xfrm>
          <a:prstGeom prst="rect">
            <a:avLst/>
          </a:prstGeom>
          <a:solidFill>
            <a:srgbClr val="2D6A4F"/>
          </a:solidFill>
          <a:ln w="12700">
            <a:solidFill>
              <a:srgbClr val="52B788"/>
            </a:solidFill>
            <a:prstDash val="solid"/>
          </a:ln>
        </p:spPr>
        <p:txBody>
          <a:bodyPr/>
          <a:lstStyle/>
          <a:p>
            <a:endParaRPr lang="en-US"/>
          </a:p>
        </p:txBody>
      </p:sp>
      <p:sp>
        <p:nvSpPr>
          <p:cNvPr id="17" name="Text 15"/>
          <p:cNvSpPr/>
          <p:nvPr/>
        </p:nvSpPr>
        <p:spPr>
          <a:xfrm>
            <a:off x="5577840" y="3931920"/>
            <a:ext cx="3291840" cy="347472"/>
          </a:xfrm>
          <a:prstGeom prst="rect">
            <a:avLst/>
          </a:prstGeom>
          <a:noFill/>
          <a:ln/>
        </p:spPr>
        <p:txBody>
          <a:bodyPr wrap="square" rtlCol="0" anchor="ctr"/>
          <a:lstStyle/>
          <a:p>
            <a:pPr marL="0" indent="0" algn="ctr">
              <a:buNone/>
            </a:pPr>
            <a:r>
              <a:rPr lang="en-US" sz="1200" b="1" dirty="0">
                <a:solidFill>
                  <a:srgbClr val="FFFFFF"/>
                </a:solidFill>
              </a:rPr>
              <a:t>Kemp, Texas  ·  Kaufman County</a:t>
            </a:r>
            <a:endParaRPr lang="en-US" sz="1200" dirty="0"/>
          </a:p>
        </p:txBody>
      </p:sp>
      <p:sp>
        <p:nvSpPr>
          <p:cNvPr id="18" name="Text 16"/>
          <p:cNvSpPr/>
          <p:nvPr/>
        </p:nvSpPr>
        <p:spPr>
          <a:xfrm>
            <a:off x="5577840" y="4315968"/>
            <a:ext cx="3291840" cy="292608"/>
          </a:xfrm>
          <a:prstGeom prst="rect">
            <a:avLst/>
          </a:prstGeom>
          <a:noFill/>
          <a:ln/>
        </p:spPr>
        <p:txBody>
          <a:bodyPr wrap="square" rtlCol="0" anchor="ctr"/>
          <a:lstStyle/>
          <a:p>
            <a:pPr marL="0" indent="0" algn="ctr">
              <a:buNone/>
            </a:pPr>
            <a:r>
              <a:rPr lang="en-US" sz="1000" dirty="0">
                <a:solidFill>
                  <a:srgbClr val="74C69D"/>
                </a:solidFill>
              </a:rPr>
              <a:t>goldensignaturetechfarm@gmail.com</a:t>
            </a:r>
            <a:endParaRPr lang="en-US" sz="1000" dirty="0"/>
          </a:p>
        </p:txBody>
      </p:sp>
      <p:sp>
        <p:nvSpPr>
          <p:cNvPr id="19" name="Shape 17"/>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pic>
        <p:nvPicPr>
          <p:cNvPr id="23" name="Audio 22">
            <a:extLst>
              <a:ext uri="{FF2B5EF4-FFF2-40B4-BE49-F238E27FC236}">
                <a16:creationId xmlns:a16="http://schemas.microsoft.com/office/drawing/2014/main" id="{2E6752DA-F331-94AA-47C8-BAA669DDA19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960"/>
    </mc:Choice>
    <mc:Fallback>
      <p:transition spd="slow" advTm="18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COMPANY OVERVIEW</a:t>
            </a:r>
            <a:endParaRPr lang="en-US" sz="900" dirty="0"/>
          </a:p>
        </p:txBody>
      </p:sp>
      <p:sp>
        <p:nvSpPr>
          <p:cNvPr id="6" name="Text 4"/>
          <p:cNvSpPr/>
          <p:nvPr/>
        </p:nvSpPr>
        <p:spPr>
          <a:xfrm>
            <a:off x="365760" y="566928"/>
            <a:ext cx="8412480" cy="502920"/>
          </a:xfrm>
          <a:prstGeom prst="rect">
            <a:avLst/>
          </a:prstGeom>
          <a:noFill/>
          <a:ln/>
        </p:spPr>
        <p:txBody>
          <a:bodyPr wrap="square" rtlCol="0" anchor="ctr"/>
          <a:lstStyle/>
          <a:p>
            <a:pPr marL="0" indent="0">
              <a:buNone/>
            </a:pPr>
            <a:r>
              <a:rPr lang="en-US" sz="2600" b="1" dirty="0">
                <a:solidFill>
                  <a:srgbClr val="FFFFFF"/>
                </a:solidFill>
              </a:rPr>
              <a:t>What Is Golden Signature Tech Farm?</a:t>
            </a:r>
            <a:endParaRPr lang="en-US" sz="2600" dirty="0"/>
          </a:p>
        </p:txBody>
      </p:sp>
      <p:sp>
        <p:nvSpPr>
          <p:cNvPr id="7" name="Shape 5"/>
          <p:cNvSpPr/>
          <p:nvPr/>
        </p:nvSpPr>
        <p:spPr>
          <a:xfrm>
            <a:off x="274320" y="1353312"/>
            <a:ext cx="2788920" cy="3520440"/>
          </a:xfrm>
          <a:prstGeom prst="rect">
            <a:avLst/>
          </a:prstGeom>
          <a:solidFill>
            <a:srgbClr val="1B4332"/>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8" name="Text 6"/>
          <p:cNvSpPr/>
          <p:nvPr/>
        </p:nvSpPr>
        <p:spPr>
          <a:xfrm>
            <a:off x="274320" y="1463040"/>
            <a:ext cx="2788920" cy="7315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9" name="Text 7"/>
          <p:cNvSpPr/>
          <p:nvPr/>
        </p:nvSpPr>
        <p:spPr>
          <a:xfrm>
            <a:off x="384048" y="2249424"/>
            <a:ext cx="2578608" cy="502920"/>
          </a:xfrm>
          <a:prstGeom prst="rect">
            <a:avLst/>
          </a:prstGeom>
          <a:noFill/>
          <a:ln/>
        </p:spPr>
        <p:txBody>
          <a:bodyPr wrap="square" rtlCol="0" anchor="ctr"/>
          <a:lstStyle/>
          <a:p>
            <a:pPr marL="0" indent="0" algn="ctr">
              <a:buNone/>
            </a:pPr>
            <a:r>
              <a:rPr lang="en-US" sz="1250" b="1" dirty="0">
                <a:solidFill>
                  <a:srgbClr val="52B788"/>
                </a:solidFill>
              </a:rPr>
              <a:t>Commercial Market Garden</a:t>
            </a:r>
            <a:endParaRPr lang="en-US" sz="1250" dirty="0"/>
          </a:p>
        </p:txBody>
      </p:sp>
      <p:sp>
        <p:nvSpPr>
          <p:cNvPr id="10" name="Shape 8"/>
          <p:cNvSpPr/>
          <p:nvPr/>
        </p:nvSpPr>
        <p:spPr>
          <a:xfrm>
            <a:off x="868680" y="2798064"/>
            <a:ext cx="1600200" cy="36576"/>
          </a:xfrm>
          <a:prstGeom prst="rect">
            <a:avLst/>
          </a:prstGeom>
          <a:solidFill>
            <a:srgbClr val="52B788"/>
          </a:solidFill>
          <a:ln w="12700">
            <a:solidFill>
              <a:srgbClr val="52B788"/>
            </a:solidFill>
            <a:prstDash val="solid"/>
          </a:ln>
        </p:spPr>
        <p:txBody>
          <a:bodyPr/>
          <a:lstStyle/>
          <a:p>
            <a:endParaRPr lang="en-US"/>
          </a:p>
        </p:txBody>
      </p:sp>
      <p:sp>
        <p:nvSpPr>
          <p:cNvPr id="11" name="Text 9"/>
          <p:cNvSpPr/>
          <p:nvPr/>
        </p:nvSpPr>
        <p:spPr>
          <a:xfrm>
            <a:off x="402336" y="2907792"/>
            <a:ext cx="2542032" cy="1828800"/>
          </a:xfrm>
          <a:prstGeom prst="rect">
            <a:avLst/>
          </a:prstGeom>
          <a:noFill/>
          <a:ln/>
        </p:spPr>
        <p:txBody>
          <a:bodyPr wrap="square" rtlCol="0" anchor="t"/>
          <a:lstStyle/>
          <a:p>
            <a:pPr marL="0" indent="0" algn="ctr">
              <a:buNone/>
            </a:pPr>
            <a:r>
              <a:rPr lang="en-US" sz="1100" dirty="0">
                <a:solidFill>
                  <a:srgbClr val="F0F4EF"/>
                </a:solidFill>
              </a:rPr>
              <a:t>CSA subscriptions, local farmers markets, and produce sales fuel our operation. We grow real food for real people in Kaufman County.</a:t>
            </a:r>
            <a:endParaRPr lang="en-US" sz="1100" dirty="0"/>
          </a:p>
        </p:txBody>
      </p:sp>
      <p:sp>
        <p:nvSpPr>
          <p:cNvPr id="12" name="Shape 10"/>
          <p:cNvSpPr/>
          <p:nvPr/>
        </p:nvSpPr>
        <p:spPr>
          <a:xfrm>
            <a:off x="3200400" y="1353312"/>
            <a:ext cx="2788920" cy="3520440"/>
          </a:xfrm>
          <a:prstGeom prst="rect">
            <a:avLst/>
          </a:prstGeom>
          <a:solidFill>
            <a:srgbClr val="1B4332"/>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3" name="Text 11"/>
          <p:cNvSpPr/>
          <p:nvPr/>
        </p:nvSpPr>
        <p:spPr>
          <a:xfrm>
            <a:off x="3200400" y="1463040"/>
            <a:ext cx="2788920" cy="7315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4" name="Text 12"/>
          <p:cNvSpPr/>
          <p:nvPr/>
        </p:nvSpPr>
        <p:spPr>
          <a:xfrm>
            <a:off x="3310128" y="2249424"/>
            <a:ext cx="2578608" cy="502920"/>
          </a:xfrm>
          <a:prstGeom prst="rect">
            <a:avLst/>
          </a:prstGeom>
          <a:noFill/>
          <a:ln/>
        </p:spPr>
        <p:txBody>
          <a:bodyPr wrap="square" rtlCol="0" anchor="ctr"/>
          <a:lstStyle/>
          <a:p>
            <a:pPr marL="0" indent="0" algn="ctr">
              <a:buNone/>
            </a:pPr>
            <a:r>
              <a:rPr lang="en-US" sz="1250" b="1" dirty="0">
                <a:solidFill>
                  <a:srgbClr val="52B788"/>
                </a:solidFill>
              </a:rPr>
              <a:t>Technology Education</a:t>
            </a:r>
            <a:endParaRPr lang="en-US" sz="1250" dirty="0"/>
          </a:p>
        </p:txBody>
      </p:sp>
      <p:sp>
        <p:nvSpPr>
          <p:cNvPr id="15" name="Shape 13"/>
          <p:cNvSpPr/>
          <p:nvPr/>
        </p:nvSpPr>
        <p:spPr>
          <a:xfrm>
            <a:off x="3794760" y="2798064"/>
            <a:ext cx="1600200" cy="36576"/>
          </a:xfrm>
          <a:prstGeom prst="rect">
            <a:avLst/>
          </a:prstGeom>
          <a:solidFill>
            <a:srgbClr val="52B788"/>
          </a:solidFill>
          <a:ln w="12700">
            <a:solidFill>
              <a:srgbClr val="52B788"/>
            </a:solidFill>
            <a:prstDash val="solid"/>
          </a:ln>
        </p:spPr>
        <p:txBody>
          <a:bodyPr/>
          <a:lstStyle/>
          <a:p>
            <a:endParaRPr lang="en-US"/>
          </a:p>
        </p:txBody>
      </p:sp>
      <p:sp>
        <p:nvSpPr>
          <p:cNvPr id="16" name="Text 14"/>
          <p:cNvSpPr/>
          <p:nvPr/>
        </p:nvSpPr>
        <p:spPr>
          <a:xfrm>
            <a:off x="3328416" y="2907792"/>
            <a:ext cx="2542032" cy="1828800"/>
          </a:xfrm>
          <a:prstGeom prst="rect">
            <a:avLst/>
          </a:prstGeom>
          <a:noFill/>
          <a:ln/>
        </p:spPr>
        <p:txBody>
          <a:bodyPr wrap="square" rtlCol="0" anchor="t"/>
          <a:lstStyle/>
          <a:p>
            <a:pPr marL="0" indent="0" algn="ctr">
              <a:buNone/>
            </a:pPr>
            <a:r>
              <a:rPr lang="en-US" sz="1100" dirty="0">
                <a:solidFill>
                  <a:srgbClr val="F0F4EF"/>
                </a:solidFill>
              </a:rPr>
              <a:t>Rural youth ages 10–18 get hands-on training in cloud computing, coding, IoT, and agricultural automation — right here at home.</a:t>
            </a:r>
            <a:endParaRPr lang="en-US" sz="1100" dirty="0"/>
          </a:p>
        </p:txBody>
      </p:sp>
      <p:sp>
        <p:nvSpPr>
          <p:cNvPr id="17" name="Shape 15"/>
          <p:cNvSpPr/>
          <p:nvPr/>
        </p:nvSpPr>
        <p:spPr>
          <a:xfrm>
            <a:off x="6126480" y="1353312"/>
            <a:ext cx="2788920" cy="3520440"/>
          </a:xfrm>
          <a:prstGeom prst="rect">
            <a:avLst/>
          </a:prstGeom>
          <a:solidFill>
            <a:srgbClr val="1B4332"/>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8" name="Text 16"/>
          <p:cNvSpPr/>
          <p:nvPr/>
        </p:nvSpPr>
        <p:spPr>
          <a:xfrm>
            <a:off x="6126480" y="1463040"/>
            <a:ext cx="2788920" cy="7315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9" name="Text 17"/>
          <p:cNvSpPr/>
          <p:nvPr/>
        </p:nvSpPr>
        <p:spPr>
          <a:xfrm>
            <a:off x="6236208" y="2249424"/>
            <a:ext cx="2578608" cy="502920"/>
          </a:xfrm>
          <a:prstGeom prst="rect">
            <a:avLst/>
          </a:prstGeom>
          <a:noFill/>
          <a:ln/>
        </p:spPr>
        <p:txBody>
          <a:bodyPr wrap="square" rtlCol="0" anchor="ctr"/>
          <a:lstStyle/>
          <a:p>
            <a:pPr marL="0" indent="0" algn="ctr">
              <a:buNone/>
            </a:pPr>
            <a:r>
              <a:rPr lang="en-US" sz="1250" b="1" dirty="0">
                <a:solidFill>
                  <a:srgbClr val="52B788"/>
                </a:solidFill>
              </a:rPr>
              <a:t>Nature Meets Innovation</a:t>
            </a:r>
            <a:endParaRPr lang="en-US" sz="1250" dirty="0"/>
          </a:p>
        </p:txBody>
      </p:sp>
      <p:sp>
        <p:nvSpPr>
          <p:cNvPr id="20" name="Shape 18"/>
          <p:cNvSpPr/>
          <p:nvPr/>
        </p:nvSpPr>
        <p:spPr>
          <a:xfrm>
            <a:off x="6720840" y="2798064"/>
            <a:ext cx="1600200" cy="36576"/>
          </a:xfrm>
          <a:prstGeom prst="rect">
            <a:avLst/>
          </a:prstGeom>
          <a:solidFill>
            <a:srgbClr val="52B788"/>
          </a:solidFill>
          <a:ln w="12700">
            <a:solidFill>
              <a:srgbClr val="52B788"/>
            </a:solidFill>
            <a:prstDash val="solid"/>
          </a:ln>
        </p:spPr>
        <p:txBody>
          <a:bodyPr/>
          <a:lstStyle/>
          <a:p>
            <a:endParaRPr lang="en-US"/>
          </a:p>
        </p:txBody>
      </p:sp>
      <p:sp>
        <p:nvSpPr>
          <p:cNvPr id="21" name="Text 19"/>
          <p:cNvSpPr/>
          <p:nvPr/>
        </p:nvSpPr>
        <p:spPr>
          <a:xfrm>
            <a:off x="6254496" y="2907792"/>
            <a:ext cx="2542032" cy="1828800"/>
          </a:xfrm>
          <a:prstGeom prst="rect">
            <a:avLst/>
          </a:prstGeom>
          <a:noFill/>
          <a:ln/>
        </p:spPr>
        <p:txBody>
          <a:bodyPr wrap="square" rtlCol="0" anchor="t"/>
          <a:lstStyle/>
          <a:p>
            <a:pPr marL="0" indent="0" algn="ctr">
              <a:buNone/>
            </a:pPr>
            <a:r>
              <a:rPr lang="en-US" sz="1100" dirty="0">
                <a:solidFill>
                  <a:srgbClr val="F0F4EF"/>
                </a:solidFill>
              </a:rPr>
              <a:t>We wire sensors into soil. We automate irrigation with cloud dashboards. Every crop teaches a lesson in engineering.</a:t>
            </a:r>
            <a:endParaRPr lang="en-US" sz="1100" dirty="0"/>
          </a:p>
        </p:txBody>
      </p:sp>
      <p:pic>
        <p:nvPicPr>
          <p:cNvPr id="25" name="Audio 24">
            <a:extLst>
              <a:ext uri="{FF2B5EF4-FFF2-40B4-BE49-F238E27FC236}">
                <a16:creationId xmlns:a16="http://schemas.microsoft.com/office/drawing/2014/main" id="{B7B590EF-4D6F-2378-47E9-212E34440A5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60"/>
    </mc:Choice>
    <mc:Fallback>
      <p:transition spd="slow" advTm="37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NOW HIRING</a:t>
            </a:r>
            <a:endParaRPr lang="en-US" sz="900" dirty="0"/>
          </a:p>
        </p:txBody>
      </p:sp>
      <p:sp>
        <p:nvSpPr>
          <p:cNvPr id="6" name="Text 4"/>
          <p:cNvSpPr/>
          <p:nvPr/>
        </p:nvSpPr>
        <p:spPr>
          <a:xfrm>
            <a:off x="365760" y="566928"/>
            <a:ext cx="8412480" cy="457200"/>
          </a:xfrm>
          <a:prstGeom prst="rect">
            <a:avLst/>
          </a:prstGeom>
          <a:noFill/>
          <a:ln/>
        </p:spPr>
        <p:txBody>
          <a:bodyPr wrap="square" rtlCol="0" anchor="ctr"/>
          <a:lstStyle/>
          <a:p>
            <a:pPr marL="0" indent="0">
              <a:buNone/>
            </a:pPr>
            <a:r>
              <a:rPr lang="en-US" sz="2400" b="1" dirty="0">
                <a:solidFill>
                  <a:srgbClr val="1A2B1F"/>
                </a:solidFill>
              </a:rPr>
              <a:t>We're Growing — Come Build With Us</a:t>
            </a:r>
            <a:endParaRPr lang="en-US" sz="2400" dirty="0"/>
          </a:p>
        </p:txBody>
      </p:sp>
      <p:sp>
        <p:nvSpPr>
          <p:cNvPr id="7" name="Text 5"/>
          <p:cNvSpPr/>
          <p:nvPr/>
        </p:nvSpPr>
        <p:spPr>
          <a:xfrm>
            <a:off x="365760" y="1051560"/>
            <a:ext cx="8412480" cy="320040"/>
          </a:xfrm>
          <a:prstGeom prst="rect">
            <a:avLst/>
          </a:prstGeom>
          <a:noFill/>
          <a:ln/>
        </p:spPr>
        <p:txBody>
          <a:bodyPr wrap="square" rtlCol="0" anchor="ctr"/>
          <a:lstStyle/>
          <a:p>
            <a:pPr marL="0" indent="0">
              <a:buNone/>
            </a:pPr>
            <a:r>
              <a:rPr lang="en-US" sz="1200" i="1" dirty="0">
                <a:solidFill>
                  <a:srgbClr val="2D6A4F"/>
                </a:solidFill>
              </a:rPr>
              <a:t>Sales exceeded projections. We're expanding the team and the space. 5 full-time positions open now.</a:t>
            </a:r>
            <a:endParaRPr lang="en-US" sz="1200" dirty="0"/>
          </a:p>
        </p:txBody>
      </p:sp>
      <p:sp>
        <p:nvSpPr>
          <p:cNvPr id="8" name="Shape 6"/>
          <p:cNvSpPr/>
          <p:nvPr/>
        </p:nvSpPr>
        <p:spPr>
          <a:xfrm>
            <a:off x="256032" y="1481328"/>
            <a:ext cx="4224528" cy="1051560"/>
          </a:xfrm>
          <a:prstGeom prst="rect">
            <a:avLst/>
          </a:prstGeom>
          <a:solidFill>
            <a:srgbClr val="FFFFFF"/>
          </a:solidFill>
          <a:ln w="1524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9" name="Shape 7"/>
          <p:cNvSpPr/>
          <p:nvPr/>
        </p:nvSpPr>
        <p:spPr>
          <a:xfrm>
            <a:off x="256032" y="1481328"/>
            <a:ext cx="530352" cy="1051560"/>
          </a:xfrm>
          <a:prstGeom prst="rect">
            <a:avLst/>
          </a:prstGeom>
          <a:solidFill>
            <a:srgbClr val="2D6A4F"/>
          </a:solidFill>
          <a:ln w="12700">
            <a:solidFill>
              <a:srgbClr val="2D6A4F"/>
            </a:solidFill>
            <a:prstDash val="solid"/>
          </a:ln>
        </p:spPr>
        <p:txBody>
          <a:bodyPr/>
          <a:lstStyle/>
          <a:p>
            <a:endParaRPr lang="en-US"/>
          </a:p>
        </p:txBody>
      </p:sp>
      <p:sp>
        <p:nvSpPr>
          <p:cNvPr id="10" name="Text 8"/>
          <p:cNvSpPr/>
          <p:nvPr/>
        </p:nvSpPr>
        <p:spPr>
          <a:xfrm>
            <a:off x="256032" y="1481328"/>
            <a:ext cx="530352" cy="1051560"/>
          </a:xfrm>
          <a:prstGeom prst="rect">
            <a:avLst/>
          </a:prstGeom>
          <a:noFill/>
          <a:ln/>
        </p:spPr>
        <p:txBody>
          <a:bodyPr wrap="square" lIns="0" tIns="0" rIns="0" bIns="0" rtlCol="0" anchor="ctr"/>
          <a:lstStyle/>
          <a:p>
            <a:pPr marL="0" indent="0" algn="ctr">
              <a:buNone/>
            </a:pPr>
            <a:r>
              <a:rPr lang="en-US" sz="1500" b="1" dirty="0">
                <a:solidFill>
                  <a:srgbClr val="52B788"/>
                </a:solidFill>
              </a:rPr>
              <a:t>01</a:t>
            </a:r>
            <a:endParaRPr lang="en-US" sz="1500" dirty="0"/>
          </a:p>
        </p:txBody>
      </p:sp>
      <p:sp>
        <p:nvSpPr>
          <p:cNvPr id="11" name="Text 9"/>
          <p:cNvSpPr/>
          <p:nvPr/>
        </p:nvSpPr>
        <p:spPr>
          <a:xfrm>
            <a:off x="877824" y="1536192"/>
            <a:ext cx="3511296" cy="256032"/>
          </a:xfrm>
          <a:prstGeom prst="rect">
            <a:avLst/>
          </a:prstGeom>
          <a:noFill/>
          <a:ln/>
        </p:spPr>
        <p:txBody>
          <a:bodyPr wrap="square" rtlCol="0" anchor="ctr"/>
          <a:lstStyle/>
          <a:p>
            <a:pPr marL="0" indent="0">
              <a:buNone/>
            </a:pPr>
            <a:r>
              <a:rPr lang="en-US" sz="1150" b="1" dirty="0">
                <a:solidFill>
                  <a:srgbClr val="1A2B1F"/>
                </a:solidFill>
              </a:rPr>
              <a:t>Farm Operations Lead</a:t>
            </a:r>
            <a:endParaRPr lang="en-US" sz="1150" dirty="0"/>
          </a:p>
        </p:txBody>
      </p:sp>
      <p:sp>
        <p:nvSpPr>
          <p:cNvPr id="12" name="Text 10"/>
          <p:cNvSpPr/>
          <p:nvPr/>
        </p:nvSpPr>
        <p:spPr>
          <a:xfrm>
            <a:off x="877824" y="1819656"/>
            <a:ext cx="3511296" cy="658368"/>
          </a:xfrm>
          <a:prstGeom prst="rect">
            <a:avLst/>
          </a:prstGeom>
          <a:noFill/>
          <a:ln/>
        </p:spPr>
        <p:txBody>
          <a:bodyPr wrap="square" rtlCol="0" anchor="ctr"/>
          <a:lstStyle/>
          <a:p>
            <a:pPr marL="0" indent="0">
              <a:buNone/>
            </a:pPr>
            <a:r>
              <a:rPr lang="en-US" sz="950" dirty="0">
                <a:solidFill>
                  <a:srgbClr val="4A5568"/>
                </a:solidFill>
              </a:rPr>
              <a:t>Own the day-to-day of the market garden — planting schedules, harvest, CSA fulfillment, and soil health. Sustainable ag experience required.</a:t>
            </a:r>
            <a:endParaRPr lang="en-US" sz="950" dirty="0"/>
          </a:p>
        </p:txBody>
      </p:sp>
      <p:sp>
        <p:nvSpPr>
          <p:cNvPr id="13" name="Shape 11"/>
          <p:cNvSpPr/>
          <p:nvPr/>
        </p:nvSpPr>
        <p:spPr>
          <a:xfrm>
            <a:off x="256032" y="2651760"/>
            <a:ext cx="4224528" cy="1051560"/>
          </a:xfrm>
          <a:prstGeom prst="rect">
            <a:avLst/>
          </a:prstGeom>
          <a:solidFill>
            <a:srgbClr val="FFFFFF"/>
          </a:solidFill>
          <a:ln w="1524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4" name="Shape 12"/>
          <p:cNvSpPr/>
          <p:nvPr/>
        </p:nvSpPr>
        <p:spPr>
          <a:xfrm>
            <a:off x="256032" y="2651760"/>
            <a:ext cx="530352" cy="1051560"/>
          </a:xfrm>
          <a:prstGeom prst="rect">
            <a:avLst/>
          </a:prstGeom>
          <a:solidFill>
            <a:srgbClr val="2D6A4F"/>
          </a:solidFill>
          <a:ln w="12700">
            <a:solidFill>
              <a:srgbClr val="2D6A4F"/>
            </a:solidFill>
            <a:prstDash val="solid"/>
          </a:ln>
        </p:spPr>
        <p:txBody>
          <a:bodyPr/>
          <a:lstStyle/>
          <a:p>
            <a:endParaRPr lang="en-US"/>
          </a:p>
        </p:txBody>
      </p:sp>
      <p:sp>
        <p:nvSpPr>
          <p:cNvPr id="15" name="Text 13"/>
          <p:cNvSpPr/>
          <p:nvPr/>
        </p:nvSpPr>
        <p:spPr>
          <a:xfrm>
            <a:off x="256032" y="2651760"/>
            <a:ext cx="530352" cy="1051560"/>
          </a:xfrm>
          <a:prstGeom prst="rect">
            <a:avLst/>
          </a:prstGeom>
          <a:noFill/>
          <a:ln/>
        </p:spPr>
        <p:txBody>
          <a:bodyPr wrap="square" lIns="0" tIns="0" rIns="0" bIns="0" rtlCol="0" anchor="ctr"/>
          <a:lstStyle/>
          <a:p>
            <a:pPr marL="0" indent="0" algn="ctr">
              <a:buNone/>
            </a:pPr>
            <a:r>
              <a:rPr lang="en-US" sz="1500" b="1" dirty="0">
                <a:solidFill>
                  <a:srgbClr val="52B788"/>
                </a:solidFill>
              </a:rPr>
              <a:t>02</a:t>
            </a:r>
            <a:endParaRPr lang="en-US" sz="1500" dirty="0"/>
          </a:p>
        </p:txBody>
      </p:sp>
      <p:sp>
        <p:nvSpPr>
          <p:cNvPr id="16" name="Text 14"/>
          <p:cNvSpPr/>
          <p:nvPr/>
        </p:nvSpPr>
        <p:spPr>
          <a:xfrm>
            <a:off x="877824" y="2706624"/>
            <a:ext cx="3511296" cy="256032"/>
          </a:xfrm>
          <a:prstGeom prst="rect">
            <a:avLst/>
          </a:prstGeom>
          <a:noFill/>
          <a:ln/>
        </p:spPr>
        <p:txBody>
          <a:bodyPr wrap="square" rtlCol="0" anchor="ctr"/>
          <a:lstStyle/>
          <a:p>
            <a:pPr marL="0" indent="0">
              <a:buNone/>
            </a:pPr>
            <a:r>
              <a:rPr lang="en-US" sz="1150" b="1" dirty="0">
                <a:solidFill>
                  <a:srgbClr val="1A2B1F"/>
                </a:solidFill>
              </a:rPr>
              <a:t>Agricultural Tech Engineer</a:t>
            </a:r>
            <a:endParaRPr lang="en-US" sz="1150" dirty="0"/>
          </a:p>
        </p:txBody>
      </p:sp>
      <p:sp>
        <p:nvSpPr>
          <p:cNvPr id="17" name="Text 15"/>
          <p:cNvSpPr/>
          <p:nvPr/>
        </p:nvSpPr>
        <p:spPr>
          <a:xfrm>
            <a:off x="877824" y="2990088"/>
            <a:ext cx="3511296" cy="658368"/>
          </a:xfrm>
          <a:prstGeom prst="rect">
            <a:avLst/>
          </a:prstGeom>
          <a:noFill/>
          <a:ln/>
        </p:spPr>
        <p:txBody>
          <a:bodyPr wrap="square" rtlCol="0" anchor="ctr"/>
          <a:lstStyle/>
          <a:p>
            <a:pPr marL="0" indent="0">
              <a:buNone/>
            </a:pPr>
            <a:r>
              <a:rPr lang="en-US" sz="950" dirty="0">
                <a:solidFill>
                  <a:srgbClr val="4A5568"/>
                </a:solidFill>
              </a:rPr>
              <a:t>Deploy and manage IoT sensors, automated irrigation, and cloud-connected field monitoring systems. AWS or equivalent cloud experience required.</a:t>
            </a:r>
            <a:endParaRPr lang="en-US" sz="950" dirty="0"/>
          </a:p>
        </p:txBody>
      </p:sp>
      <p:sp>
        <p:nvSpPr>
          <p:cNvPr id="18" name="Shape 16"/>
          <p:cNvSpPr/>
          <p:nvPr/>
        </p:nvSpPr>
        <p:spPr>
          <a:xfrm>
            <a:off x="256032" y="3822192"/>
            <a:ext cx="4224528" cy="1051560"/>
          </a:xfrm>
          <a:prstGeom prst="rect">
            <a:avLst/>
          </a:prstGeom>
          <a:solidFill>
            <a:srgbClr val="FFFFFF"/>
          </a:solidFill>
          <a:ln w="1524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9" name="Shape 17"/>
          <p:cNvSpPr/>
          <p:nvPr/>
        </p:nvSpPr>
        <p:spPr>
          <a:xfrm>
            <a:off x="256032" y="3822192"/>
            <a:ext cx="530352" cy="1051560"/>
          </a:xfrm>
          <a:prstGeom prst="rect">
            <a:avLst/>
          </a:prstGeom>
          <a:solidFill>
            <a:srgbClr val="2D6A4F"/>
          </a:solidFill>
          <a:ln w="12700">
            <a:solidFill>
              <a:srgbClr val="2D6A4F"/>
            </a:solidFill>
            <a:prstDash val="solid"/>
          </a:ln>
        </p:spPr>
        <p:txBody>
          <a:bodyPr/>
          <a:lstStyle/>
          <a:p>
            <a:endParaRPr lang="en-US"/>
          </a:p>
        </p:txBody>
      </p:sp>
      <p:sp>
        <p:nvSpPr>
          <p:cNvPr id="20" name="Text 18"/>
          <p:cNvSpPr/>
          <p:nvPr/>
        </p:nvSpPr>
        <p:spPr>
          <a:xfrm>
            <a:off x="256032" y="3822192"/>
            <a:ext cx="530352" cy="1051560"/>
          </a:xfrm>
          <a:prstGeom prst="rect">
            <a:avLst/>
          </a:prstGeom>
          <a:noFill/>
          <a:ln/>
        </p:spPr>
        <p:txBody>
          <a:bodyPr wrap="square" lIns="0" tIns="0" rIns="0" bIns="0" rtlCol="0" anchor="ctr"/>
          <a:lstStyle/>
          <a:p>
            <a:pPr marL="0" indent="0" algn="ctr">
              <a:buNone/>
            </a:pPr>
            <a:r>
              <a:rPr lang="en-US" sz="1500" b="1" dirty="0">
                <a:solidFill>
                  <a:srgbClr val="52B788"/>
                </a:solidFill>
              </a:rPr>
              <a:t>03</a:t>
            </a:r>
            <a:endParaRPr lang="en-US" sz="1500" dirty="0"/>
          </a:p>
        </p:txBody>
      </p:sp>
      <p:sp>
        <p:nvSpPr>
          <p:cNvPr id="21" name="Text 19"/>
          <p:cNvSpPr/>
          <p:nvPr/>
        </p:nvSpPr>
        <p:spPr>
          <a:xfrm>
            <a:off x="877824" y="3877056"/>
            <a:ext cx="3511296" cy="256032"/>
          </a:xfrm>
          <a:prstGeom prst="rect">
            <a:avLst/>
          </a:prstGeom>
          <a:noFill/>
          <a:ln/>
        </p:spPr>
        <p:txBody>
          <a:bodyPr wrap="square" rtlCol="0" anchor="ctr"/>
          <a:lstStyle/>
          <a:p>
            <a:pPr marL="0" indent="0">
              <a:buNone/>
            </a:pPr>
            <a:r>
              <a:rPr lang="en-US" sz="1150" b="1" dirty="0">
                <a:solidFill>
                  <a:srgbClr val="1A2B1F"/>
                </a:solidFill>
              </a:rPr>
              <a:t>Tech Education Coordinator</a:t>
            </a:r>
            <a:endParaRPr lang="en-US" sz="1150" dirty="0"/>
          </a:p>
        </p:txBody>
      </p:sp>
      <p:sp>
        <p:nvSpPr>
          <p:cNvPr id="22" name="Text 20"/>
          <p:cNvSpPr/>
          <p:nvPr/>
        </p:nvSpPr>
        <p:spPr>
          <a:xfrm>
            <a:off x="877824" y="4160520"/>
            <a:ext cx="3511296" cy="658368"/>
          </a:xfrm>
          <a:prstGeom prst="rect">
            <a:avLst/>
          </a:prstGeom>
          <a:noFill/>
          <a:ln/>
        </p:spPr>
        <p:txBody>
          <a:bodyPr wrap="square" rtlCol="0" anchor="ctr"/>
          <a:lstStyle/>
          <a:p>
            <a:pPr marL="0" indent="0">
              <a:buNone/>
            </a:pPr>
            <a:r>
              <a:rPr lang="en-US" sz="950" dirty="0">
                <a:solidFill>
                  <a:srgbClr val="4A5568"/>
                </a:solidFill>
              </a:rPr>
              <a:t>Build and run our youth programming — coding, cloud fundamentals, and hands-on automation for ages 10–18. Teaching or youth work experience preferred.</a:t>
            </a:r>
            <a:endParaRPr lang="en-US" sz="950" dirty="0"/>
          </a:p>
        </p:txBody>
      </p:sp>
      <p:sp>
        <p:nvSpPr>
          <p:cNvPr id="23" name="Shape 21"/>
          <p:cNvSpPr/>
          <p:nvPr/>
        </p:nvSpPr>
        <p:spPr>
          <a:xfrm>
            <a:off x="4736592" y="1481328"/>
            <a:ext cx="4224528" cy="1051560"/>
          </a:xfrm>
          <a:prstGeom prst="rect">
            <a:avLst/>
          </a:prstGeom>
          <a:solidFill>
            <a:srgbClr val="FFFFFF"/>
          </a:solidFill>
          <a:ln w="1524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24" name="Shape 22"/>
          <p:cNvSpPr/>
          <p:nvPr/>
        </p:nvSpPr>
        <p:spPr>
          <a:xfrm>
            <a:off x="4736592" y="1481328"/>
            <a:ext cx="530352" cy="1051560"/>
          </a:xfrm>
          <a:prstGeom prst="rect">
            <a:avLst/>
          </a:prstGeom>
          <a:solidFill>
            <a:srgbClr val="2D6A4F"/>
          </a:solidFill>
          <a:ln w="12700">
            <a:solidFill>
              <a:srgbClr val="2D6A4F"/>
            </a:solidFill>
            <a:prstDash val="solid"/>
          </a:ln>
        </p:spPr>
        <p:txBody>
          <a:bodyPr/>
          <a:lstStyle/>
          <a:p>
            <a:endParaRPr lang="en-US"/>
          </a:p>
        </p:txBody>
      </p:sp>
      <p:sp>
        <p:nvSpPr>
          <p:cNvPr id="25" name="Text 23"/>
          <p:cNvSpPr/>
          <p:nvPr/>
        </p:nvSpPr>
        <p:spPr>
          <a:xfrm>
            <a:off x="4736592" y="1481328"/>
            <a:ext cx="530352" cy="1051560"/>
          </a:xfrm>
          <a:prstGeom prst="rect">
            <a:avLst/>
          </a:prstGeom>
          <a:noFill/>
          <a:ln/>
        </p:spPr>
        <p:txBody>
          <a:bodyPr wrap="square" lIns="0" tIns="0" rIns="0" bIns="0" rtlCol="0" anchor="ctr"/>
          <a:lstStyle/>
          <a:p>
            <a:pPr marL="0" indent="0" algn="ctr">
              <a:buNone/>
            </a:pPr>
            <a:r>
              <a:rPr lang="en-US" sz="1500" b="1" dirty="0">
                <a:solidFill>
                  <a:srgbClr val="52B788"/>
                </a:solidFill>
              </a:rPr>
              <a:t>04</a:t>
            </a:r>
            <a:endParaRPr lang="en-US" sz="1500" dirty="0"/>
          </a:p>
        </p:txBody>
      </p:sp>
      <p:sp>
        <p:nvSpPr>
          <p:cNvPr id="26" name="Text 24"/>
          <p:cNvSpPr/>
          <p:nvPr/>
        </p:nvSpPr>
        <p:spPr>
          <a:xfrm>
            <a:off x="5358384" y="1536192"/>
            <a:ext cx="3511296" cy="256032"/>
          </a:xfrm>
          <a:prstGeom prst="rect">
            <a:avLst/>
          </a:prstGeom>
          <a:noFill/>
          <a:ln/>
        </p:spPr>
        <p:txBody>
          <a:bodyPr wrap="square" rtlCol="0" anchor="ctr"/>
          <a:lstStyle/>
          <a:p>
            <a:pPr marL="0" indent="0">
              <a:buNone/>
            </a:pPr>
            <a:r>
              <a:rPr lang="en-US" sz="1150" b="1" dirty="0">
                <a:solidFill>
                  <a:srgbClr val="1A2B1F"/>
                </a:solidFill>
              </a:rPr>
              <a:t>Market &amp; CSA Coordinator</a:t>
            </a:r>
            <a:endParaRPr lang="en-US" sz="1150" dirty="0"/>
          </a:p>
        </p:txBody>
      </p:sp>
      <p:sp>
        <p:nvSpPr>
          <p:cNvPr id="27" name="Text 25"/>
          <p:cNvSpPr/>
          <p:nvPr/>
        </p:nvSpPr>
        <p:spPr>
          <a:xfrm>
            <a:off x="5358384" y="1819656"/>
            <a:ext cx="3511296" cy="658368"/>
          </a:xfrm>
          <a:prstGeom prst="rect">
            <a:avLst/>
          </a:prstGeom>
          <a:noFill/>
          <a:ln/>
        </p:spPr>
        <p:txBody>
          <a:bodyPr wrap="square" rtlCol="0" anchor="ctr"/>
          <a:lstStyle/>
          <a:p>
            <a:pPr marL="0" indent="0">
              <a:buNone/>
            </a:pPr>
            <a:r>
              <a:rPr lang="en-US" sz="950" dirty="0">
                <a:solidFill>
                  <a:srgbClr val="4A5568"/>
                </a:solidFill>
              </a:rPr>
              <a:t>Manage subscriber relationships, farmers market presence, and community outreach. Strong communicator who can represent the brand at the table and in the field.</a:t>
            </a:r>
            <a:endParaRPr lang="en-US" sz="950" dirty="0"/>
          </a:p>
        </p:txBody>
      </p:sp>
      <p:sp>
        <p:nvSpPr>
          <p:cNvPr id="28" name="Shape 26"/>
          <p:cNvSpPr/>
          <p:nvPr/>
        </p:nvSpPr>
        <p:spPr>
          <a:xfrm>
            <a:off x="4736592" y="2651760"/>
            <a:ext cx="4224528" cy="1051560"/>
          </a:xfrm>
          <a:prstGeom prst="rect">
            <a:avLst/>
          </a:prstGeom>
          <a:solidFill>
            <a:srgbClr val="FFFFFF"/>
          </a:solidFill>
          <a:ln w="1524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29" name="Shape 27"/>
          <p:cNvSpPr/>
          <p:nvPr/>
        </p:nvSpPr>
        <p:spPr>
          <a:xfrm>
            <a:off x="4736592" y="2651760"/>
            <a:ext cx="530352" cy="1051560"/>
          </a:xfrm>
          <a:prstGeom prst="rect">
            <a:avLst/>
          </a:prstGeom>
          <a:solidFill>
            <a:srgbClr val="2D6A4F"/>
          </a:solidFill>
          <a:ln w="12700">
            <a:solidFill>
              <a:srgbClr val="2D6A4F"/>
            </a:solidFill>
            <a:prstDash val="solid"/>
          </a:ln>
        </p:spPr>
        <p:txBody>
          <a:bodyPr/>
          <a:lstStyle/>
          <a:p>
            <a:endParaRPr lang="en-US"/>
          </a:p>
        </p:txBody>
      </p:sp>
      <p:sp>
        <p:nvSpPr>
          <p:cNvPr id="30" name="Text 28"/>
          <p:cNvSpPr/>
          <p:nvPr/>
        </p:nvSpPr>
        <p:spPr>
          <a:xfrm>
            <a:off x="4736592" y="2651760"/>
            <a:ext cx="530352" cy="1051560"/>
          </a:xfrm>
          <a:prstGeom prst="rect">
            <a:avLst/>
          </a:prstGeom>
          <a:noFill/>
          <a:ln/>
        </p:spPr>
        <p:txBody>
          <a:bodyPr wrap="square" lIns="0" tIns="0" rIns="0" bIns="0" rtlCol="0" anchor="ctr"/>
          <a:lstStyle/>
          <a:p>
            <a:pPr marL="0" indent="0" algn="ctr">
              <a:buNone/>
            </a:pPr>
            <a:r>
              <a:rPr lang="en-US" sz="1500" b="1" dirty="0">
                <a:solidFill>
                  <a:srgbClr val="52B788"/>
                </a:solidFill>
              </a:rPr>
              <a:t>05</a:t>
            </a:r>
            <a:endParaRPr lang="en-US" sz="1500" dirty="0"/>
          </a:p>
        </p:txBody>
      </p:sp>
      <p:sp>
        <p:nvSpPr>
          <p:cNvPr id="31" name="Text 29"/>
          <p:cNvSpPr/>
          <p:nvPr/>
        </p:nvSpPr>
        <p:spPr>
          <a:xfrm>
            <a:off x="5358384" y="2706624"/>
            <a:ext cx="3511296" cy="256032"/>
          </a:xfrm>
          <a:prstGeom prst="rect">
            <a:avLst/>
          </a:prstGeom>
          <a:noFill/>
          <a:ln/>
        </p:spPr>
        <p:txBody>
          <a:bodyPr wrap="square" rtlCol="0" anchor="ctr"/>
          <a:lstStyle/>
          <a:p>
            <a:pPr marL="0" indent="0">
              <a:buNone/>
            </a:pPr>
            <a:r>
              <a:rPr lang="en-US" sz="1150" b="1" dirty="0">
                <a:solidFill>
                  <a:srgbClr val="1A2B1F"/>
                </a:solidFill>
              </a:rPr>
              <a:t>Cloud Infrastructure Specialist</a:t>
            </a:r>
            <a:endParaRPr lang="en-US" sz="1150" dirty="0"/>
          </a:p>
        </p:txBody>
      </p:sp>
      <p:sp>
        <p:nvSpPr>
          <p:cNvPr id="32" name="Text 30"/>
          <p:cNvSpPr/>
          <p:nvPr/>
        </p:nvSpPr>
        <p:spPr>
          <a:xfrm>
            <a:off x="5358384" y="2990088"/>
            <a:ext cx="3511296" cy="658368"/>
          </a:xfrm>
          <a:prstGeom prst="rect">
            <a:avLst/>
          </a:prstGeom>
          <a:noFill/>
          <a:ln/>
        </p:spPr>
        <p:txBody>
          <a:bodyPr wrap="square" rtlCol="0" anchor="ctr"/>
          <a:lstStyle/>
          <a:p>
            <a:pPr marL="0" indent="0">
              <a:buNone/>
            </a:pPr>
            <a:r>
              <a:rPr lang="en-US" sz="950" dirty="0">
                <a:solidFill>
                  <a:srgbClr val="4A5568"/>
                </a:solidFill>
              </a:rPr>
              <a:t>Maintain and expand our AWS-based farm monitoring and data platform. Keep our systems online, scalable, and secure. Certifications a strong plus.</a:t>
            </a:r>
            <a:endParaRPr lang="en-US" sz="950" dirty="0"/>
          </a:p>
        </p:txBody>
      </p:sp>
      <p:pic>
        <p:nvPicPr>
          <p:cNvPr id="36" name="Audio 35">
            <a:extLst>
              <a:ext uri="{FF2B5EF4-FFF2-40B4-BE49-F238E27FC236}">
                <a16:creationId xmlns:a16="http://schemas.microsoft.com/office/drawing/2014/main" id="{A3D9C8E5-1BA1-06B8-7CA6-39DA9AC5910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80"/>
    </mc:Choice>
    <mc:Fallback>
      <p:transition spd="slow" advTm="43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OUR WORKSPACE</a:t>
            </a:r>
            <a:endParaRPr lang="en-US" sz="900" dirty="0"/>
          </a:p>
        </p:txBody>
      </p:sp>
      <p:sp>
        <p:nvSpPr>
          <p:cNvPr id="6" name="Text 4"/>
          <p:cNvSpPr/>
          <p:nvPr/>
        </p:nvSpPr>
        <p:spPr>
          <a:xfrm>
            <a:off x="365760" y="566928"/>
            <a:ext cx="8412480" cy="475488"/>
          </a:xfrm>
          <a:prstGeom prst="rect">
            <a:avLst/>
          </a:prstGeom>
          <a:noFill/>
          <a:ln/>
        </p:spPr>
        <p:txBody>
          <a:bodyPr wrap="square" rtlCol="0" anchor="ctr"/>
          <a:lstStyle/>
          <a:p>
            <a:pPr marL="0" indent="0">
              <a:buNone/>
            </a:pPr>
            <a:r>
              <a:rPr lang="en-US" sz="2400" b="1" dirty="0">
                <a:solidFill>
                  <a:srgbClr val="FFFFFF"/>
                </a:solidFill>
              </a:rPr>
              <a:t>Designed for Thinkers, Builders &amp; Growers</a:t>
            </a:r>
            <a:endParaRPr lang="en-US" sz="2400" dirty="0"/>
          </a:p>
        </p:txBody>
      </p:sp>
      <p:sp>
        <p:nvSpPr>
          <p:cNvPr id="7" name="Shape 5"/>
          <p:cNvSpPr/>
          <p:nvPr/>
        </p:nvSpPr>
        <p:spPr>
          <a:xfrm>
            <a:off x="256032" y="1261872"/>
            <a:ext cx="5029200" cy="1152144"/>
          </a:xfrm>
          <a:prstGeom prst="rect">
            <a:avLst/>
          </a:prstGeom>
          <a:solidFill>
            <a:srgbClr val="1B4332"/>
          </a:solidFill>
          <a:ln w="10160">
            <a:solidFill>
              <a:srgbClr val="52B788"/>
            </a:solidFill>
            <a:prstDash val="solid"/>
          </a:ln>
        </p:spPr>
        <p:txBody>
          <a:bodyPr/>
          <a:lstStyle/>
          <a:p>
            <a:endParaRPr lang="en-US"/>
          </a:p>
        </p:txBody>
      </p:sp>
      <p:sp>
        <p:nvSpPr>
          <p:cNvPr id="8" name="Text 6"/>
          <p:cNvSpPr/>
          <p:nvPr/>
        </p:nvSpPr>
        <p:spPr>
          <a:xfrm>
            <a:off x="292608" y="1261872"/>
            <a:ext cx="804672"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1133856" y="1335024"/>
            <a:ext cx="4041648" cy="274320"/>
          </a:xfrm>
          <a:prstGeom prst="rect">
            <a:avLst/>
          </a:prstGeom>
          <a:noFill/>
          <a:ln/>
        </p:spPr>
        <p:txBody>
          <a:bodyPr wrap="square" rtlCol="0" anchor="ctr"/>
          <a:lstStyle/>
          <a:p>
            <a:pPr marL="0" indent="0">
              <a:buNone/>
            </a:pPr>
            <a:r>
              <a:rPr lang="en-US" sz="1300" b="1" dirty="0">
                <a:solidFill>
                  <a:srgbClr val="52B788"/>
                </a:solidFill>
              </a:rPr>
              <a:t>The Tech Hub</a:t>
            </a:r>
            <a:endParaRPr lang="en-US" sz="1300" dirty="0"/>
          </a:p>
        </p:txBody>
      </p:sp>
      <p:sp>
        <p:nvSpPr>
          <p:cNvPr id="10" name="Text 8"/>
          <p:cNvSpPr/>
          <p:nvPr/>
        </p:nvSpPr>
        <p:spPr>
          <a:xfrm>
            <a:off x="1133856" y="1627632"/>
            <a:ext cx="4041648" cy="713232"/>
          </a:xfrm>
          <a:prstGeom prst="rect">
            <a:avLst/>
          </a:prstGeom>
          <a:noFill/>
          <a:ln/>
        </p:spPr>
        <p:txBody>
          <a:bodyPr wrap="square" rtlCol="0" anchor="ctr"/>
          <a:lstStyle/>
          <a:p>
            <a:pPr marL="0" indent="0">
              <a:buNone/>
            </a:pPr>
            <a:r>
              <a:rPr lang="en-US" sz="1050" dirty="0">
                <a:solidFill>
                  <a:srgbClr val="F0F4EF"/>
                </a:solidFill>
              </a:rPr>
              <a:t>An open-plan command center with standing desks, dual monitors, and live AWS cloud dashboards showing real farm data. Every wall is a whiteboard.</a:t>
            </a:r>
            <a:endParaRPr lang="en-US" sz="1050" dirty="0"/>
          </a:p>
        </p:txBody>
      </p:sp>
      <p:sp>
        <p:nvSpPr>
          <p:cNvPr id="11" name="Shape 9"/>
          <p:cNvSpPr/>
          <p:nvPr/>
        </p:nvSpPr>
        <p:spPr>
          <a:xfrm>
            <a:off x="256032" y="2523744"/>
            <a:ext cx="5029200" cy="1152144"/>
          </a:xfrm>
          <a:prstGeom prst="rect">
            <a:avLst/>
          </a:prstGeom>
          <a:solidFill>
            <a:srgbClr val="1B4332"/>
          </a:solidFill>
          <a:ln w="10160">
            <a:solidFill>
              <a:srgbClr val="52B788"/>
            </a:solidFill>
            <a:prstDash val="solid"/>
          </a:ln>
        </p:spPr>
        <p:txBody>
          <a:bodyPr/>
          <a:lstStyle/>
          <a:p>
            <a:endParaRPr lang="en-US"/>
          </a:p>
        </p:txBody>
      </p:sp>
      <p:sp>
        <p:nvSpPr>
          <p:cNvPr id="12" name="Text 10"/>
          <p:cNvSpPr/>
          <p:nvPr/>
        </p:nvSpPr>
        <p:spPr>
          <a:xfrm>
            <a:off x="292608" y="2523744"/>
            <a:ext cx="804672"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3" name="Text 11"/>
          <p:cNvSpPr/>
          <p:nvPr/>
        </p:nvSpPr>
        <p:spPr>
          <a:xfrm>
            <a:off x="1133856" y="2596896"/>
            <a:ext cx="4041648" cy="274320"/>
          </a:xfrm>
          <a:prstGeom prst="rect">
            <a:avLst/>
          </a:prstGeom>
          <a:noFill/>
          <a:ln/>
        </p:spPr>
        <p:txBody>
          <a:bodyPr wrap="square" rtlCol="0" anchor="ctr"/>
          <a:lstStyle/>
          <a:p>
            <a:pPr marL="0" indent="0">
              <a:buNone/>
            </a:pPr>
            <a:r>
              <a:rPr lang="en-US" sz="1300" b="1" dirty="0">
                <a:solidFill>
                  <a:srgbClr val="52B788"/>
                </a:solidFill>
              </a:rPr>
              <a:t>The Greenhouse Lab</a:t>
            </a:r>
            <a:endParaRPr lang="en-US" sz="1300" dirty="0"/>
          </a:p>
        </p:txBody>
      </p:sp>
      <p:sp>
        <p:nvSpPr>
          <p:cNvPr id="14" name="Text 12"/>
          <p:cNvSpPr/>
          <p:nvPr/>
        </p:nvSpPr>
        <p:spPr>
          <a:xfrm>
            <a:off x="1133856" y="2889504"/>
            <a:ext cx="4041648" cy="713232"/>
          </a:xfrm>
          <a:prstGeom prst="rect">
            <a:avLst/>
          </a:prstGeom>
          <a:noFill/>
          <a:ln/>
        </p:spPr>
        <p:txBody>
          <a:bodyPr wrap="square" rtlCol="0" anchor="ctr"/>
          <a:lstStyle/>
          <a:p>
            <a:pPr marL="0" indent="0">
              <a:buNone/>
            </a:pPr>
            <a:r>
              <a:rPr lang="en-US" sz="1050" dirty="0">
                <a:solidFill>
                  <a:srgbClr val="F0F4EF"/>
                </a:solidFill>
              </a:rPr>
              <a:t>Where field meets function. Sensors, grow lights, and automation rigs sit alongside workbenches for hands-on IoT and hardware prototyping.</a:t>
            </a:r>
            <a:endParaRPr lang="en-US" sz="1050" dirty="0"/>
          </a:p>
        </p:txBody>
      </p:sp>
      <p:sp>
        <p:nvSpPr>
          <p:cNvPr id="15" name="Shape 13"/>
          <p:cNvSpPr/>
          <p:nvPr/>
        </p:nvSpPr>
        <p:spPr>
          <a:xfrm>
            <a:off x="256032" y="3785616"/>
            <a:ext cx="5029200" cy="1152144"/>
          </a:xfrm>
          <a:prstGeom prst="rect">
            <a:avLst/>
          </a:prstGeom>
          <a:solidFill>
            <a:srgbClr val="1B4332"/>
          </a:solidFill>
          <a:ln w="10160">
            <a:solidFill>
              <a:srgbClr val="52B788"/>
            </a:solidFill>
            <a:prstDash val="solid"/>
          </a:ln>
        </p:spPr>
        <p:txBody>
          <a:bodyPr/>
          <a:lstStyle/>
          <a:p>
            <a:endParaRPr lang="en-US"/>
          </a:p>
        </p:txBody>
      </p:sp>
      <p:sp>
        <p:nvSpPr>
          <p:cNvPr id="16" name="Text 14"/>
          <p:cNvSpPr/>
          <p:nvPr/>
        </p:nvSpPr>
        <p:spPr>
          <a:xfrm>
            <a:off x="292608" y="3785616"/>
            <a:ext cx="804672"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1133856" y="3858768"/>
            <a:ext cx="4041648" cy="274320"/>
          </a:xfrm>
          <a:prstGeom prst="rect">
            <a:avLst/>
          </a:prstGeom>
          <a:noFill/>
          <a:ln/>
        </p:spPr>
        <p:txBody>
          <a:bodyPr wrap="square" rtlCol="0" anchor="ctr"/>
          <a:lstStyle/>
          <a:p>
            <a:pPr marL="0" indent="0">
              <a:buNone/>
            </a:pPr>
            <a:r>
              <a:rPr lang="en-US" sz="1300" b="1" dirty="0">
                <a:solidFill>
                  <a:srgbClr val="52B788"/>
                </a:solidFill>
              </a:rPr>
              <a:t>The Learning Barn</a:t>
            </a:r>
            <a:endParaRPr lang="en-US" sz="1300" dirty="0"/>
          </a:p>
        </p:txBody>
      </p:sp>
      <p:sp>
        <p:nvSpPr>
          <p:cNvPr id="18" name="Text 16"/>
          <p:cNvSpPr/>
          <p:nvPr/>
        </p:nvSpPr>
        <p:spPr>
          <a:xfrm>
            <a:off x="1133856" y="4151376"/>
            <a:ext cx="4041648" cy="713232"/>
          </a:xfrm>
          <a:prstGeom prst="rect">
            <a:avLst/>
          </a:prstGeom>
          <a:noFill/>
          <a:ln/>
        </p:spPr>
        <p:txBody>
          <a:bodyPr wrap="square" rtlCol="0" anchor="ctr"/>
          <a:lstStyle/>
          <a:p>
            <a:pPr marL="0" indent="0">
              <a:buNone/>
            </a:pPr>
            <a:r>
              <a:rPr lang="en-US" sz="1050" dirty="0">
                <a:solidFill>
                  <a:srgbClr val="F0F4EF"/>
                </a:solidFill>
              </a:rPr>
              <a:t>A fully converted barn with flexible seating, projection walls, and maker-station tables — built for youth coding sessions and community workshops.</a:t>
            </a:r>
            <a:endParaRPr lang="en-US" sz="1050" dirty="0"/>
          </a:p>
        </p:txBody>
      </p:sp>
      <p:sp>
        <p:nvSpPr>
          <p:cNvPr id="19" name="Shape 17"/>
          <p:cNvSpPr/>
          <p:nvPr/>
        </p:nvSpPr>
        <p:spPr>
          <a:xfrm>
            <a:off x="5577840" y="1261872"/>
            <a:ext cx="3273552" cy="3657600"/>
          </a:xfrm>
          <a:prstGeom prst="rect">
            <a:avLst/>
          </a:prstGeom>
          <a:solidFill>
            <a:srgbClr val="2D6A4F"/>
          </a:solidFill>
          <a:ln w="12700">
            <a:solidFill>
              <a:srgbClr val="52B788"/>
            </a:solidFill>
            <a:prstDash val="solid"/>
          </a:ln>
        </p:spPr>
        <p:txBody>
          <a:bodyPr/>
          <a:lstStyle/>
          <a:p>
            <a:endParaRPr lang="en-US"/>
          </a:p>
        </p:txBody>
      </p:sp>
      <p:sp>
        <p:nvSpPr>
          <p:cNvPr id="20" name="Text 18"/>
          <p:cNvSpPr/>
          <p:nvPr/>
        </p:nvSpPr>
        <p:spPr>
          <a:xfrm>
            <a:off x="5577840" y="1371600"/>
            <a:ext cx="3273552" cy="502920"/>
          </a:xfrm>
          <a:prstGeom prst="rect">
            <a:avLst/>
          </a:prstGeom>
          <a:noFill/>
          <a:ln/>
        </p:spPr>
        <p:txBody>
          <a:bodyPr wrap="square" rtlCol="0" anchor="ctr"/>
          <a:lstStyle/>
          <a:p>
            <a:pPr marL="0" indent="0" algn="ctr">
              <a:buNone/>
            </a:pPr>
            <a:r>
              <a:rPr lang="en-US" sz="1600" b="1" dirty="0">
                <a:solidFill>
                  <a:srgbClr val="FFFFFF"/>
                </a:solidFill>
              </a:rPr>
              <a:t>Design Philosophy</a:t>
            </a:r>
            <a:endParaRPr lang="en-US" sz="1600" dirty="0"/>
          </a:p>
        </p:txBody>
      </p:sp>
      <p:sp>
        <p:nvSpPr>
          <p:cNvPr id="21" name="Shape 19"/>
          <p:cNvSpPr/>
          <p:nvPr/>
        </p:nvSpPr>
        <p:spPr>
          <a:xfrm>
            <a:off x="5989320" y="1920240"/>
            <a:ext cx="2423160" cy="36576"/>
          </a:xfrm>
          <a:prstGeom prst="rect">
            <a:avLst/>
          </a:prstGeom>
          <a:solidFill>
            <a:srgbClr val="52B788"/>
          </a:solidFill>
          <a:ln w="12700">
            <a:solidFill>
              <a:srgbClr val="52B788"/>
            </a:solidFill>
            <a:prstDash val="solid"/>
          </a:ln>
        </p:spPr>
        <p:txBody>
          <a:bodyPr/>
          <a:lstStyle/>
          <a:p>
            <a:endParaRPr lang="en-US"/>
          </a:p>
        </p:txBody>
      </p:sp>
      <p:sp>
        <p:nvSpPr>
          <p:cNvPr id="22" name="Text 20"/>
          <p:cNvSpPr/>
          <p:nvPr/>
        </p:nvSpPr>
        <p:spPr>
          <a:xfrm>
            <a:off x="5687568" y="2048256"/>
            <a:ext cx="3035808" cy="384048"/>
          </a:xfrm>
          <a:prstGeom prst="rect">
            <a:avLst/>
          </a:prstGeom>
          <a:noFill/>
          <a:ln/>
        </p:spPr>
        <p:txBody>
          <a:bodyPr wrap="square" rtlCol="0" anchor="ctr"/>
          <a:lstStyle/>
          <a:p>
            <a:pPr marL="0" indent="0">
              <a:buNone/>
            </a:pPr>
            <a:r>
              <a:rPr lang="en-US" sz="1050" dirty="0">
                <a:solidFill>
                  <a:srgbClr val="F0F4EF"/>
                </a:solidFill>
              </a:rPr>
              <a:t>✦  Natural light in every workspace</a:t>
            </a:r>
            <a:endParaRPr lang="en-US" sz="1050" dirty="0"/>
          </a:p>
        </p:txBody>
      </p:sp>
      <p:sp>
        <p:nvSpPr>
          <p:cNvPr id="23" name="Text 21"/>
          <p:cNvSpPr/>
          <p:nvPr/>
        </p:nvSpPr>
        <p:spPr>
          <a:xfrm>
            <a:off x="5687568" y="2487168"/>
            <a:ext cx="3035808" cy="384048"/>
          </a:xfrm>
          <a:prstGeom prst="rect">
            <a:avLst/>
          </a:prstGeom>
          <a:noFill/>
          <a:ln/>
        </p:spPr>
        <p:txBody>
          <a:bodyPr wrap="square" rtlCol="0" anchor="ctr"/>
          <a:lstStyle/>
          <a:p>
            <a:pPr marL="0" indent="0">
              <a:buNone/>
            </a:pPr>
            <a:r>
              <a:rPr lang="en-US" sz="1050" dirty="0">
                <a:solidFill>
                  <a:srgbClr val="F0F4EF"/>
                </a:solidFill>
              </a:rPr>
              <a:t>✦  Biophilic design — plants throughout</a:t>
            </a:r>
            <a:endParaRPr lang="en-US" sz="1050" dirty="0"/>
          </a:p>
        </p:txBody>
      </p:sp>
      <p:sp>
        <p:nvSpPr>
          <p:cNvPr id="24" name="Text 22"/>
          <p:cNvSpPr/>
          <p:nvPr/>
        </p:nvSpPr>
        <p:spPr>
          <a:xfrm>
            <a:off x="5687568" y="2926080"/>
            <a:ext cx="3035808" cy="384048"/>
          </a:xfrm>
          <a:prstGeom prst="rect">
            <a:avLst/>
          </a:prstGeom>
          <a:noFill/>
          <a:ln/>
        </p:spPr>
        <p:txBody>
          <a:bodyPr wrap="square" rtlCol="0" anchor="ctr"/>
          <a:lstStyle/>
          <a:p>
            <a:pPr marL="0" indent="0">
              <a:buNone/>
            </a:pPr>
            <a:r>
              <a:rPr lang="en-US" sz="1050" dirty="0">
                <a:solidFill>
                  <a:srgbClr val="F0F4EF"/>
                </a:solidFill>
              </a:rPr>
              <a:t>✦  Flexible zones: focus, collab, create</a:t>
            </a:r>
            <a:endParaRPr lang="en-US" sz="1050" dirty="0"/>
          </a:p>
        </p:txBody>
      </p:sp>
      <p:sp>
        <p:nvSpPr>
          <p:cNvPr id="25" name="Text 23"/>
          <p:cNvSpPr/>
          <p:nvPr/>
        </p:nvSpPr>
        <p:spPr>
          <a:xfrm>
            <a:off x="5687568" y="3364992"/>
            <a:ext cx="3035808" cy="384048"/>
          </a:xfrm>
          <a:prstGeom prst="rect">
            <a:avLst/>
          </a:prstGeom>
          <a:noFill/>
          <a:ln/>
        </p:spPr>
        <p:txBody>
          <a:bodyPr wrap="square" rtlCol="0" anchor="ctr"/>
          <a:lstStyle/>
          <a:p>
            <a:pPr marL="0" indent="0">
              <a:buNone/>
            </a:pPr>
            <a:r>
              <a:rPr lang="en-US" sz="1050" dirty="0">
                <a:solidFill>
                  <a:srgbClr val="F0F4EF"/>
                </a:solidFill>
              </a:rPr>
              <a:t>✦  Tech integrated into physical space</a:t>
            </a:r>
            <a:endParaRPr lang="en-US" sz="1050" dirty="0"/>
          </a:p>
        </p:txBody>
      </p:sp>
      <p:sp>
        <p:nvSpPr>
          <p:cNvPr id="26" name="Text 24"/>
          <p:cNvSpPr/>
          <p:nvPr/>
        </p:nvSpPr>
        <p:spPr>
          <a:xfrm>
            <a:off x="5687568" y="3803904"/>
            <a:ext cx="3035808" cy="384048"/>
          </a:xfrm>
          <a:prstGeom prst="rect">
            <a:avLst/>
          </a:prstGeom>
          <a:noFill/>
          <a:ln/>
        </p:spPr>
        <p:txBody>
          <a:bodyPr wrap="square" rtlCol="0" anchor="ctr"/>
          <a:lstStyle/>
          <a:p>
            <a:pPr marL="0" indent="0">
              <a:buNone/>
            </a:pPr>
            <a:r>
              <a:rPr lang="en-US" sz="1050" dirty="0">
                <a:solidFill>
                  <a:srgbClr val="F0F4EF"/>
                </a:solidFill>
              </a:rPr>
              <a:t>✦  Outdoor breakout areas in the fields</a:t>
            </a:r>
            <a:endParaRPr lang="en-US" sz="1050" dirty="0"/>
          </a:p>
        </p:txBody>
      </p:sp>
      <p:sp>
        <p:nvSpPr>
          <p:cNvPr id="27" name="Text 25"/>
          <p:cNvSpPr/>
          <p:nvPr/>
        </p:nvSpPr>
        <p:spPr>
          <a:xfrm>
            <a:off x="5687568" y="4242816"/>
            <a:ext cx="3035808" cy="384048"/>
          </a:xfrm>
          <a:prstGeom prst="rect">
            <a:avLst/>
          </a:prstGeom>
          <a:noFill/>
          <a:ln/>
        </p:spPr>
        <p:txBody>
          <a:bodyPr wrap="square" rtlCol="0" anchor="ctr"/>
          <a:lstStyle/>
          <a:p>
            <a:pPr marL="0" indent="0">
              <a:buNone/>
            </a:pPr>
            <a:r>
              <a:rPr lang="en-US" sz="1050" dirty="0">
                <a:solidFill>
                  <a:srgbClr val="F0F4EF"/>
                </a:solidFill>
              </a:rPr>
              <a:t>✦  No cubicles. No cages.</a:t>
            </a:r>
            <a:endParaRPr lang="en-US" sz="1050" dirty="0"/>
          </a:p>
        </p:txBody>
      </p:sp>
      <p:pic>
        <p:nvPicPr>
          <p:cNvPr id="31" name="Audio 30">
            <a:extLst>
              <a:ext uri="{FF2B5EF4-FFF2-40B4-BE49-F238E27FC236}">
                <a16:creationId xmlns:a16="http://schemas.microsoft.com/office/drawing/2014/main" id="{0B6667E2-8FD1-AD48-7C97-ACB5A1E550A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900"/>
    </mc:Choice>
    <mc:Fallback>
      <p:transition spd="slow" advTm="5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STAFF PERKS</a:t>
            </a:r>
            <a:endParaRPr lang="en-US" sz="900" dirty="0"/>
          </a:p>
        </p:txBody>
      </p:sp>
      <p:sp>
        <p:nvSpPr>
          <p:cNvPr id="6" name="Text 4"/>
          <p:cNvSpPr/>
          <p:nvPr/>
        </p:nvSpPr>
        <p:spPr>
          <a:xfrm>
            <a:off x="365760" y="566928"/>
            <a:ext cx="8412480" cy="475488"/>
          </a:xfrm>
          <a:prstGeom prst="rect">
            <a:avLst/>
          </a:prstGeom>
          <a:noFill/>
          <a:ln/>
        </p:spPr>
        <p:txBody>
          <a:bodyPr wrap="square" rtlCol="0" anchor="ctr"/>
          <a:lstStyle/>
          <a:p>
            <a:pPr marL="0" indent="0">
              <a:buNone/>
            </a:pPr>
            <a:r>
              <a:rPr lang="en-US" sz="2600" b="1" dirty="0">
                <a:solidFill>
                  <a:srgbClr val="1A2B1F"/>
                </a:solidFill>
              </a:rPr>
              <a:t>Why People Stay</a:t>
            </a:r>
            <a:endParaRPr lang="en-US" sz="2600" dirty="0"/>
          </a:p>
        </p:txBody>
      </p:sp>
      <p:sp>
        <p:nvSpPr>
          <p:cNvPr id="7" name="Shape 5"/>
          <p:cNvSpPr/>
          <p:nvPr/>
        </p:nvSpPr>
        <p:spPr>
          <a:xfrm>
            <a:off x="256032" y="1261872"/>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8" name="Text 6"/>
          <p:cNvSpPr/>
          <p:nvPr/>
        </p:nvSpPr>
        <p:spPr>
          <a:xfrm>
            <a:off x="256032" y="1261872"/>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1133856" y="1353312"/>
            <a:ext cx="3246120" cy="274320"/>
          </a:xfrm>
          <a:prstGeom prst="rect">
            <a:avLst/>
          </a:prstGeom>
          <a:noFill/>
          <a:ln/>
        </p:spPr>
        <p:txBody>
          <a:bodyPr wrap="square" rtlCol="0" anchor="ctr"/>
          <a:lstStyle/>
          <a:p>
            <a:pPr marL="0" indent="0">
              <a:buNone/>
            </a:pPr>
            <a:r>
              <a:rPr lang="en-US" sz="1200" b="1" dirty="0">
                <a:solidFill>
                  <a:srgbClr val="2D6A4F"/>
                </a:solidFill>
              </a:rPr>
              <a:t>Weekly Fresh Produce</a:t>
            </a:r>
            <a:endParaRPr lang="en-US" sz="1200" dirty="0"/>
          </a:p>
        </p:txBody>
      </p:sp>
      <p:sp>
        <p:nvSpPr>
          <p:cNvPr id="10" name="Text 8"/>
          <p:cNvSpPr/>
          <p:nvPr/>
        </p:nvSpPr>
        <p:spPr>
          <a:xfrm>
            <a:off x="1133856" y="1664208"/>
            <a:ext cx="3246120" cy="658368"/>
          </a:xfrm>
          <a:prstGeom prst="rect">
            <a:avLst/>
          </a:prstGeom>
          <a:noFill/>
          <a:ln/>
        </p:spPr>
        <p:txBody>
          <a:bodyPr wrap="square" rtlCol="0" anchor="ctr"/>
          <a:lstStyle/>
          <a:p>
            <a:pPr marL="0" indent="0">
              <a:buNone/>
            </a:pPr>
            <a:r>
              <a:rPr lang="en-US" sz="1000" dirty="0">
                <a:solidFill>
                  <a:srgbClr val="1A2B1F"/>
                </a:solidFill>
              </a:rPr>
              <a:t>Every team member takes home a weekly CSA share from our harvest. Farm-to-table isn't a concept here — it's a Tuesday.</a:t>
            </a:r>
            <a:endParaRPr lang="en-US" sz="1000" dirty="0"/>
          </a:p>
        </p:txBody>
      </p:sp>
      <p:sp>
        <p:nvSpPr>
          <p:cNvPr id="11" name="Shape 9"/>
          <p:cNvSpPr/>
          <p:nvPr/>
        </p:nvSpPr>
        <p:spPr>
          <a:xfrm>
            <a:off x="4718304" y="1261872"/>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2" name="Text 10"/>
          <p:cNvSpPr/>
          <p:nvPr/>
        </p:nvSpPr>
        <p:spPr>
          <a:xfrm>
            <a:off x="4718304" y="1261872"/>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3" name="Text 11"/>
          <p:cNvSpPr/>
          <p:nvPr/>
        </p:nvSpPr>
        <p:spPr>
          <a:xfrm>
            <a:off x="5596128" y="1353312"/>
            <a:ext cx="3246120" cy="274320"/>
          </a:xfrm>
          <a:prstGeom prst="rect">
            <a:avLst/>
          </a:prstGeom>
          <a:noFill/>
          <a:ln/>
        </p:spPr>
        <p:txBody>
          <a:bodyPr wrap="square" rtlCol="0" anchor="ctr"/>
          <a:lstStyle/>
          <a:p>
            <a:pPr marL="0" indent="0">
              <a:buNone/>
            </a:pPr>
            <a:r>
              <a:rPr lang="en-US" sz="1200" b="1" dirty="0">
                <a:solidFill>
                  <a:srgbClr val="2D6A4F"/>
                </a:solidFill>
              </a:rPr>
              <a:t>AWS Certification Support</a:t>
            </a:r>
            <a:endParaRPr lang="en-US" sz="1200" dirty="0"/>
          </a:p>
        </p:txBody>
      </p:sp>
      <p:sp>
        <p:nvSpPr>
          <p:cNvPr id="14" name="Text 12"/>
          <p:cNvSpPr/>
          <p:nvPr/>
        </p:nvSpPr>
        <p:spPr>
          <a:xfrm>
            <a:off x="5596128" y="1664208"/>
            <a:ext cx="3246120" cy="658368"/>
          </a:xfrm>
          <a:prstGeom prst="rect">
            <a:avLst/>
          </a:prstGeom>
          <a:noFill/>
          <a:ln/>
        </p:spPr>
        <p:txBody>
          <a:bodyPr wrap="square" rtlCol="0" anchor="ctr"/>
          <a:lstStyle/>
          <a:p>
            <a:pPr marL="0" indent="0">
              <a:buNone/>
            </a:pPr>
            <a:r>
              <a:rPr lang="en-US" sz="1000" dirty="0">
                <a:solidFill>
                  <a:srgbClr val="1A2B1F"/>
                </a:solidFill>
              </a:rPr>
              <a:t>We fund AWS certifications and cloud training. Your growth in the cloud is part of our growth as a company.</a:t>
            </a:r>
            <a:endParaRPr lang="en-US" sz="1000" dirty="0"/>
          </a:p>
        </p:txBody>
      </p:sp>
      <p:sp>
        <p:nvSpPr>
          <p:cNvPr id="15" name="Shape 13"/>
          <p:cNvSpPr/>
          <p:nvPr/>
        </p:nvSpPr>
        <p:spPr>
          <a:xfrm>
            <a:off x="256032" y="2523744"/>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6" name="Text 14"/>
          <p:cNvSpPr/>
          <p:nvPr/>
        </p:nvSpPr>
        <p:spPr>
          <a:xfrm>
            <a:off x="256032" y="2523744"/>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1133856" y="2615184"/>
            <a:ext cx="3246120" cy="274320"/>
          </a:xfrm>
          <a:prstGeom prst="rect">
            <a:avLst/>
          </a:prstGeom>
          <a:noFill/>
          <a:ln/>
        </p:spPr>
        <p:txBody>
          <a:bodyPr wrap="square" rtlCol="0" anchor="ctr"/>
          <a:lstStyle/>
          <a:p>
            <a:pPr marL="0" indent="0">
              <a:buNone/>
            </a:pPr>
            <a:r>
              <a:rPr lang="en-US" sz="1200" b="1" dirty="0">
                <a:solidFill>
                  <a:srgbClr val="2D6A4F"/>
                </a:solidFill>
              </a:rPr>
              <a:t>Flexible Scheduling</a:t>
            </a:r>
            <a:endParaRPr lang="en-US" sz="1200" dirty="0"/>
          </a:p>
        </p:txBody>
      </p:sp>
      <p:sp>
        <p:nvSpPr>
          <p:cNvPr id="18" name="Text 16"/>
          <p:cNvSpPr/>
          <p:nvPr/>
        </p:nvSpPr>
        <p:spPr>
          <a:xfrm>
            <a:off x="1133856" y="2926080"/>
            <a:ext cx="3246120" cy="658368"/>
          </a:xfrm>
          <a:prstGeom prst="rect">
            <a:avLst/>
          </a:prstGeom>
          <a:noFill/>
          <a:ln/>
        </p:spPr>
        <p:txBody>
          <a:bodyPr wrap="square" rtlCol="0" anchor="ctr"/>
          <a:lstStyle/>
          <a:p>
            <a:pPr marL="0" indent="0">
              <a:buNone/>
            </a:pPr>
            <a:r>
              <a:rPr lang="en-US" sz="1000" dirty="0">
                <a:solidFill>
                  <a:srgbClr val="1A2B1F"/>
                </a:solidFill>
              </a:rPr>
              <a:t>We work with the land's rhythm, not a 9-to-5 clock. Flexible scheduling lets our people do great work on their own terms.</a:t>
            </a:r>
            <a:endParaRPr lang="en-US" sz="1000" dirty="0"/>
          </a:p>
        </p:txBody>
      </p:sp>
      <p:sp>
        <p:nvSpPr>
          <p:cNvPr id="19" name="Shape 17"/>
          <p:cNvSpPr/>
          <p:nvPr/>
        </p:nvSpPr>
        <p:spPr>
          <a:xfrm>
            <a:off x="4718304" y="2523744"/>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20" name="Text 18"/>
          <p:cNvSpPr/>
          <p:nvPr/>
        </p:nvSpPr>
        <p:spPr>
          <a:xfrm>
            <a:off x="4718304" y="2523744"/>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1" name="Text 19"/>
          <p:cNvSpPr/>
          <p:nvPr/>
        </p:nvSpPr>
        <p:spPr>
          <a:xfrm>
            <a:off x="5596128" y="2615184"/>
            <a:ext cx="3246120" cy="274320"/>
          </a:xfrm>
          <a:prstGeom prst="rect">
            <a:avLst/>
          </a:prstGeom>
          <a:noFill/>
          <a:ln/>
        </p:spPr>
        <p:txBody>
          <a:bodyPr wrap="square" rtlCol="0" anchor="ctr"/>
          <a:lstStyle/>
          <a:p>
            <a:pPr marL="0" indent="0">
              <a:buNone/>
            </a:pPr>
            <a:r>
              <a:rPr lang="en-US" sz="1200" b="1" dirty="0">
                <a:solidFill>
                  <a:srgbClr val="2D6A4F"/>
                </a:solidFill>
              </a:rPr>
              <a:t>Mission-Driven Impact</a:t>
            </a:r>
            <a:endParaRPr lang="en-US" sz="1200" dirty="0"/>
          </a:p>
        </p:txBody>
      </p:sp>
      <p:sp>
        <p:nvSpPr>
          <p:cNvPr id="22" name="Text 20"/>
          <p:cNvSpPr/>
          <p:nvPr/>
        </p:nvSpPr>
        <p:spPr>
          <a:xfrm>
            <a:off x="5596128" y="2926080"/>
            <a:ext cx="3246120" cy="658368"/>
          </a:xfrm>
          <a:prstGeom prst="rect">
            <a:avLst/>
          </a:prstGeom>
          <a:noFill/>
          <a:ln/>
        </p:spPr>
        <p:txBody>
          <a:bodyPr wrap="square" rtlCol="0" anchor="ctr"/>
          <a:lstStyle/>
          <a:p>
            <a:pPr marL="0" indent="0">
              <a:buNone/>
            </a:pPr>
            <a:r>
              <a:rPr lang="en-US" sz="1000" dirty="0">
                <a:solidFill>
                  <a:srgbClr val="1A2B1F"/>
                </a:solidFill>
              </a:rPr>
              <a:t>You're not just doing a job — you're helping rural kids see a future in tech without leaving their community.</a:t>
            </a:r>
            <a:endParaRPr lang="en-US" sz="1000" dirty="0"/>
          </a:p>
        </p:txBody>
      </p:sp>
      <p:sp>
        <p:nvSpPr>
          <p:cNvPr id="23" name="Shape 21"/>
          <p:cNvSpPr/>
          <p:nvPr/>
        </p:nvSpPr>
        <p:spPr>
          <a:xfrm>
            <a:off x="256032" y="3785616"/>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24" name="Text 22"/>
          <p:cNvSpPr/>
          <p:nvPr/>
        </p:nvSpPr>
        <p:spPr>
          <a:xfrm>
            <a:off x="256032" y="3785616"/>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5" name="Text 23"/>
          <p:cNvSpPr/>
          <p:nvPr/>
        </p:nvSpPr>
        <p:spPr>
          <a:xfrm>
            <a:off x="1133856" y="3877056"/>
            <a:ext cx="3246120" cy="274320"/>
          </a:xfrm>
          <a:prstGeom prst="rect">
            <a:avLst/>
          </a:prstGeom>
          <a:noFill/>
          <a:ln/>
        </p:spPr>
        <p:txBody>
          <a:bodyPr wrap="square" rtlCol="0" anchor="ctr"/>
          <a:lstStyle/>
          <a:p>
            <a:pPr marL="0" indent="0">
              <a:buNone/>
            </a:pPr>
            <a:r>
              <a:rPr lang="en-US" sz="1200" b="1" dirty="0">
                <a:solidFill>
                  <a:srgbClr val="2D6A4F"/>
                </a:solidFill>
              </a:rPr>
              <a:t>10% Maker Time</a:t>
            </a:r>
            <a:endParaRPr lang="en-US" sz="1200" dirty="0"/>
          </a:p>
        </p:txBody>
      </p:sp>
      <p:sp>
        <p:nvSpPr>
          <p:cNvPr id="26" name="Text 24"/>
          <p:cNvSpPr/>
          <p:nvPr/>
        </p:nvSpPr>
        <p:spPr>
          <a:xfrm>
            <a:off x="1133856" y="4187952"/>
            <a:ext cx="3246120" cy="658368"/>
          </a:xfrm>
          <a:prstGeom prst="rect">
            <a:avLst/>
          </a:prstGeom>
          <a:noFill/>
          <a:ln/>
        </p:spPr>
        <p:txBody>
          <a:bodyPr wrap="square" rtlCol="0" anchor="ctr"/>
          <a:lstStyle/>
          <a:p>
            <a:pPr marL="0" indent="0">
              <a:buNone/>
            </a:pPr>
            <a:r>
              <a:rPr lang="en-US" sz="1000" dirty="0">
                <a:solidFill>
                  <a:srgbClr val="1A2B1F"/>
                </a:solidFill>
              </a:rPr>
              <a:t>A set portion of work hours is reserved for personal projects, tinkering, or contributing to community workshop content.</a:t>
            </a:r>
            <a:endParaRPr lang="en-US" sz="1000" dirty="0"/>
          </a:p>
        </p:txBody>
      </p:sp>
      <p:sp>
        <p:nvSpPr>
          <p:cNvPr id="27" name="Shape 25"/>
          <p:cNvSpPr/>
          <p:nvPr/>
        </p:nvSpPr>
        <p:spPr>
          <a:xfrm>
            <a:off x="4718304" y="3785616"/>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28" name="Text 26"/>
          <p:cNvSpPr/>
          <p:nvPr/>
        </p:nvSpPr>
        <p:spPr>
          <a:xfrm>
            <a:off x="4718304" y="3785616"/>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9" name="Text 27"/>
          <p:cNvSpPr/>
          <p:nvPr/>
        </p:nvSpPr>
        <p:spPr>
          <a:xfrm>
            <a:off x="5596128" y="3877056"/>
            <a:ext cx="3246120" cy="274320"/>
          </a:xfrm>
          <a:prstGeom prst="rect">
            <a:avLst/>
          </a:prstGeom>
          <a:noFill/>
          <a:ln/>
        </p:spPr>
        <p:txBody>
          <a:bodyPr wrap="square" rtlCol="0" anchor="ctr"/>
          <a:lstStyle/>
          <a:p>
            <a:pPr marL="0" indent="0">
              <a:buNone/>
            </a:pPr>
            <a:r>
              <a:rPr lang="en-US" sz="1200" b="1" dirty="0">
                <a:solidFill>
                  <a:srgbClr val="2D6A4F"/>
                </a:solidFill>
              </a:rPr>
              <a:t>Community Roots</a:t>
            </a:r>
            <a:endParaRPr lang="en-US" sz="1200" dirty="0"/>
          </a:p>
        </p:txBody>
      </p:sp>
      <p:sp>
        <p:nvSpPr>
          <p:cNvPr id="30" name="Text 28"/>
          <p:cNvSpPr/>
          <p:nvPr/>
        </p:nvSpPr>
        <p:spPr>
          <a:xfrm>
            <a:off x="5596128" y="4187952"/>
            <a:ext cx="3246120" cy="658368"/>
          </a:xfrm>
          <a:prstGeom prst="rect">
            <a:avLst/>
          </a:prstGeom>
          <a:noFill/>
          <a:ln/>
        </p:spPr>
        <p:txBody>
          <a:bodyPr wrap="square" rtlCol="0" anchor="ctr"/>
          <a:lstStyle/>
          <a:p>
            <a:pPr marL="0" indent="0">
              <a:buNone/>
            </a:pPr>
            <a:r>
              <a:rPr lang="en-US" sz="1000" dirty="0">
                <a:solidFill>
                  <a:srgbClr val="1A2B1F"/>
                </a:solidFill>
              </a:rPr>
              <a:t>Quarterly community events and school partnerships with 4-H and FFA — you'll be known in Kemp for the right reasons.</a:t>
            </a:r>
            <a:endParaRPr lang="en-US" sz="1000" dirty="0"/>
          </a:p>
        </p:txBody>
      </p:sp>
      <p:pic>
        <p:nvPicPr>
          <p:cNvPr id="34" name="Audio 33">
            <a:extLst>
              <a:ext uri="{FF2B5EF4-FFF2-40B4-BE49-F238E27FC236}">
                <a16:creationId xmlns:a16="http://schemas.microsoft.com/office/drawing/2014/main" id="{2BF2878C-CDF4-77E8-2C39-4F6283BC4D9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940"/>
    </mc:Choice>
    <mc:Fallback>
      <p:transition spd="slow" advTm="32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COMPANY CULTURE</a:t>
            </a:r>
            <a:endParaRPr lang="en-US" sz="900" dirty="0"/>
          </a:p>
        </p:txBody>
      </p:sp>
      <p:sp>
        <p:nvSpPr>
          <p:cNvPr id="6" name="Text 4"/>
          <p:cNvSpPr/>
          <p:nvPr/>
        </p:nvSpPr>
        <p:spPr>
          <a:xfrm>
            <a:off x="365760" y="566928"/>
            <a:ext cx="8412480" cy="475488"/>
          </a:xfrm>
          <a:prstGeom prst="rect">
            <a:avLst/>
          </a:prstGeom>
          <a:noFill/>
          <a:ln/>
        </p:spPr>
        <p:txBody>
          <a:bodyPr wrap="square" rtlCol="0" anchor="ctr"/>
          <a:lstStyle/>
          <a:p>
            <a:pPr marL="0" indent="0">
              <a:buNone/>
            </a:pPr>
            <a:r>
              <a:rPr lang="en-US" sz="2600" b="1" dirty="0">
                <a:solidFill>
                  <a:srgbClr val="FFFFFF"/>
                </a:solidFill>
              </a:rPr>
              <a:t>What We Actually Believe</a:t>
            </a:r>
            <a:endParaRPr lang="en-US" sz="2600" dirty="0"/>
          </a:p>
        </p:txBody>
      </p:sp>
      <p:sp>
        <p:nvSpPr>
          <p:cNvPr id="7" name="Shape 5"/>
          <p:cNvSpPr/>
          <p:nvPr/>
        </p:nvSpPr>
        <p:spPr>
          <a:xfrm>
            <a:off x="256032" y="1188720"/>
            <a:ext cx="8631936" cy="1170432"/>
          </a:xfrm>
          <a:prstGeom prst="rect">
            <a:avLst/>
          </a:prstGeom>
          <a:solidFill>
            <a:srgbClr val="1B4332"/>
          </a:solidFill>
          <a:ln w="12700">
            <a:solidFill>
              <a:srgbClr val="52B788"/>
            </a:solidFill>
            <a:prstDash val="solid"/>
          </a:ln>
        </p:spPr>
        <p:txBody>
          <a:bodyPr/>
          <a:lstStyle/>
          <a:p>
            <a:endParaRPr lang="en-US"/>
          </a:p>
        </p:txBody>
      </p:sp>
      <p:sp>
        <p:nvSpPr>
          <p:cNvPr id="8" name="Text 6"/>
          <p:cNvSpPr/>
          <p:nvPr/>
        </p:nvSpPr>
        <p:spPr>
          <a:xfrm>
            <a:off x="457200" y="1261872"/>
            <a:ext cx="8229600" cy="1024128"/>
          </a:xfrm>
          <a:prstGeom prst="rect">
            <a:avLst/>
          </a:prstGeom>
          <a:noFill/>
          <a:ln/>
        </p:spPr>
        <p:txBody>
          <a:bodyPr wrap="square" rtlCol="0" anchor="ctr"/>
          <a:lstStyle/>
          <a:p>
            <a:pPr marL="0" indent="0" algn="ctr">
              <a:buNone/>
            </a:pPr>
            <a:r>
              <a:rPr lang="en-US" sz="1700" b="1" i="1" dirty="0">
                <a:solidFill>
                  <a:srgbClr val="52B788"/>
                </a:solidFill>
              </a:rPr>
              <a:t>"We grow things here. Crops. Code. Careers. People."</a:t>
            </a:r>
            <a:endParaRPr lang="en-US" sz="1700" dirty="0"/>
          </a:p>
        </p:txBody>
      </p:sp>
      <p:sp>
        <p:nvSpPr>
          <p:cNvPr id="9" name="Shape 7"/>
          <p:cNvSpPr/>
          <p:nvPr/>
        </p:nvSpPr>
        <p:spPr>
          <a:xfrm>
            <a:off x="256032" y="2542032"/>
            <a:ext cx="4224528" cy="1152144"/>
          </a:xfrm>
          <a:prstGeom prst="rect">
            <a:avLst/>
          </a:prstGeom>
          <a:solidFill>
            <a:srgbClr val="1B4332"/>
          </a:solidFill>
          <a:ln w="12700">
            <a:solidFill>
              <a:srgbClr val="2D6A4F"/>
            </a:solidFill>
            <a:prstDash val="solid"/>
          </a:ln>
        </p:spPr>
        <p:txBody>
          <a:bodyPr/>
          <a:lstStyle/>
          <a:p>
            <a:endParaRPr lang="en-US"/>
          </a:p>
        </p:txBody>
      </p:sp>
      <p:sp>
        <p:nvSpPr>
          <p:cNvPr id="10" name="Shape 8"/>
          <p:cNvSpPr/>
          <p:nvPr/>
        </p:nvSpPr>
        <p:spPr>
          <a:xfrm>
            <a:off x="256032" y="2542032"/>
            <a:ext cx="64008" cy="1152144"/>
          </a:xfrm>
          <a:prstGeom prst="rect">
            <a:avLst/>
          </a:prstGeom>
          <a:solidFill>
            <a:srgbClr val="52B788"/>
          </a:solidFill>
          <a:ln w="12700">
            <a:solidFill>
              <a:srgbClr val="52B788"/>
            </a:solidFill>
            <a:prstDash val="solid"/>
          </a:ln>
        </p:spPr>
        <p:txBody>
          <a:bodyPr/>
          <a:lstStyle/>
          <a:p>
            <a:endParaRPr lang="en-US"/>
          </a:p>
        </p:txBody>
      </p:sp>
      <p:sp>
        <p:nvSpPr>
          <p:cNvPr id="11" name="Text 9"/>
          <p:cNvSpPr/>
          <p:nvPr/>
        </p:nvSpPr>
        <p:spPr>
          <a:xfrm>
            <a:off x="420624" y="2633472"/>
            <a:ext cx="3950208" cy="274320"/>
          </a:xfrm>
          <a:prstGeom prst="rect">
            <a:avLst/>
          </a:prstGeom>
          <a:noFill/>
          <a:ln/>
        </p:spPr>
        <p:txBody>
          <a:bodyPr wrap="square" rtlCol="0" anchor="ctr"/>
          <a:lstStyle/>
          <a:p>
            <a:pPr marL="0" indent="0">
              <a:buNone/>
            </a:pPr>
            <a:r>
              <a:rPr lang="en-US" sz="1200" b="1" dirty="0">
                <a:solidFill>
                  <a:srgbClr val="52B788"/>
                </a:solidFill>
              </a:rPr>
              <a:t>Curiosity Over Comfort</a:t>
            </a:r>
            <a:endParaRPr lang="en-US" sz="1200" dirty="0"/>
          </a:p>
        </p:txBody>
      </p:sp>
      <p:sp>
        <p:nvSpPr>
          <p:cNvPr id="12" name="Text 10"/>
          <p:cNvSpPr/>
          <p:nvPr/>
        </p:nvSpPr>
        <p:spPr>
          <a:xfrm>
            <a:off x="420624" y="2944368"/>
            <a:ext cx="3950208" cy="658368"/>
          </a:xfrm>
          <a:prstGeom prst="rect">
            <a:avLst/>
          </a:prstGeom>
          <a:noFill/>
          <a:ln/>
        </p:spPr>
        <p:txBody>
          <a:bodyPr wrap="square" rtlCol="0" anchor="ctr"/>
          <a:lstStyle/>
          <a:p>
            <a:pPr marL="0" indent="0">
              <a:buNone/>
            </a:pPr>
            <a:r>
              <a:rPr lang="en-US" sz="1050" dirty="0">
                <a:solidFill>
                  <a:srgbClr val="F0F4EF"/>
                </a:solidFill>
              </a:rPr>
              <a:t>We try things that haven't been tried. A sensor array in a tomato bed. A 14-year-old running a cloud dashboard. We lean into new.</a:t>
            </a:r>
            <a:endParaRPr lang="en-US" sz="1050" dirty="0"/>
          </a:p>
        </p:txBody>
      </p:sp>
      <p:sp>
        <p:nvSpPr>
          <p:cNvPr id="13" name="Shape 11"/>
          <p:cNvSpPr/>
          <p:nvPr/>
        </p:nvSpPr>
        <p:spPr>
          <a:xfrm>
            <a:off x="4718304" y="2542032"/>
            <a:ext cx="4224528" cy="1152144"/>
          </a:xfrm>
          <a:prstGeom prst="rect">
            <a:avLst/>
          </a:prstGeom>
          <a:solidFill>
            <a:srgbClr val="1B4332"/>
          </a:solidFill>
          <a:ln w="12700">
            <a:solidFill>
              <a:srgbClr val="2D6A4F"/>
            </a:solidFill>
            <a:prstDash val="solid"/>
          </a:ln>
        </p:spPr>
        <p:txBody>
          <a:bodyPr/>
          <a:lstStyle/>
          <a:p>
            <a:endParaRPr lang="en-US"/>
          </a:p>
        </p:txBody>
      </p:sp>
      <p:sp>
        <p:nvSpPr>
          <p:cNvPr id="14" name="Shape 12"/>
          <p:cNvSpPr/>
          <p:nvPr/>
        </p:nvSpPr>
        <p:spPr>
          <a:xfrm>
            <a:off x="4718304" y="2542032"/>
            <a:ext cx="64008" cy="1152144"/>
          </a:xfrm>
          <a:prstGeom prst="rect">
            <a:avLst/>
          </a:prstGeom>
          <a:solidFill>
            <a:srgbClr val="52B788"/>
          </a:solidFill>
          <a:ln w="12700">
            <a:solidFill>
              <a:srgbClr val="52B788"/>
            </a:solidFill>
            <a:prstDash val="solid"/>
          </a:ln>
        </p:spPr>
        <p:txBody>
          <a:bodyPr/>
          <a:lstStyle/>
          <a:p>
            <a:endParaRPr lang="en-US"/>
          </a:p>
        </p:txBody>
      </p:sp>
      <p:sp>
        <p:nvSpPr>
          <p:cNvPr id="15" name="Text 13"/>
          <p:cNvSpPr/>
          <p:nvPr/>
        </p:nvSpPr>
        <p:spPr>
          <a:xfrm>
            <a:off x="4882896" y="2633472"/>
            <a:ext cx="3950208" cy="274320"/>
          </a:xfrm>
          <a:prstGeom prst="rect">
            <a:avLst/>
          </a:prstGeom>
          <a:noFill/>
          <a:ln/>
        </p:spPr>
        <p:txBody>
          <a:bodyPr wrap="square" rtlCol="0" anchor="ctr"/>
          <a:lstStyle/>
          <a:p>
            <a:pPr marL="0" indent="0">
              <a:buNone/>
            </a:pPr>
            <a:r>
              <a:rPr lang="en-US" sz="1200" b="1" dirty="0">
                <a:solidFill>
                  <a:srgbClr val="52B788"/>
                </a:solidFill>
              </a:rPr>
              <a:t>Respect for the Land</a:t>
            </a:r>
            <a:endParaRPr lang="en-US" sz="1200" dirty="0"/>
          </a:p>
        </p:txBody>
      </p:sp>
      <p:sp>
        <p:nvSpPr>
          <p:cNvPr id="16" name="Text 14"/>
          <p:cNvSpPr/>
          <p:nvPr/>
        </p:nvSpPr>
        <p:spPr>
          <a:xfrm>
            <a:off x="4882896" y="2944368"/>
            <a:ext cx="3950208" cy="658368"/>
          </a:xfrm>
          <a:prstGeom prst="rect">
            <a:avLst/>
          </a:prstGeom>
          <a:noFill/>
          <a:ln/>
        </p:spPr>
        <p:txBody>
          <a:bodyPr wrap="square" rtlCol="0" anchor="ctr"/>
          <a:lstStyle/>
          <a:p>
            <a:pPr marL="0" indent="0">
              <a:buNone/>
            </a:pPr>
            <a:r>
              <a:rPr lang="en-US" sz="1050" dirty="0">
                <a:solidFill>
                  <a:srgbClr val="F0F4EF"/>
                </a:solidFill>
              </a:rPr>
              <a:t>Technology is a tool, not a replacement. Our team stays grounded in what growing something real actually teaches you.</a:t>
            </a:r>
            <a:endParaRPr lang="en-US" sz="1050" dirty="0"/>
          </a:p>
        </p:txBody>
      </p:sp>
      <p:sp>
        <p:nvSpPr>
          <p:cNvPr id="17" name="Shape 15"/>
          <p:cNvSpPr/>
          <p:nvPr/>
        </p:nvSpPr>
        <p:spPr>
          <a:xfrm>
            <a:off x="256032" y="3803904"/>
            <a:ext cx="4224528" cy="1152144"/>
          </a:xfrm>
          <a:prstGeom prst="rect">
            <a:avLst/>
          </a:prstGeom>
          <a:solidFill>
            <a:srgbClr val="1B4332"/>
          </a:solidFill>
          <a:ln w="12700">
            <a:solidFill>
              <a:srgbClr val="2D6A4F"/>
            </a:solidFill>
            <a:prstDash val="solid"/>
          </a:ln>
        </p:spPr>
        <p:txBody>
          <a:bodyPr/>
          <a:lstStyle/>
          <a:p>
            <a:endParaRPr lang="en-US"/>
          </a:p>
        </p:txBody>
      </p:sp>
      <p:sp>
        <p:nvSpPr>
          <p:cNvPr id="18" name="Shape 16"/>
          <p:cNvSpPr/>
          <p:nvPr/>
        </p:nvSpPr>
        <p:spPr>
          <a:xfrm>
            <a:off x="256032" y="3803904"/>
            <a:ext cx="64008" cy="1152144"/>
          </a:xfrm>
          <a:prstGeom prst="rect">
            <a:avLst/>
          </a:prstGeom>
          <a:solidFill>
            <a:srgbClr val="52B788"/>
          </a:solidFill>
          <a:ln w="12700">
            <a:solidFill>
              <a:srgbClr val="52B788"/>
            </a:solidFill>
            <a:prstDash val="solid"/>
          </a:ln>
        </p:spPr>
        <p:txBody>
          <a:bodyPr/>
          <a:lstStyle/>
          <a:p>
            <a:endParaRPr lang="en-US"/>
          </a:p>
        </p:txBody>
      </p:sp>
      <p:sp>
        <p:nvSpPr>
          <p:cNvPr id="19" name="Text 17"/>
          <p:cNvSpPr/>
          <p:nvPr/>
        </p:nvSpPr>
        <p:spPr>
          <a:xfrm>
            <a:off x="420624" y="3895344"/>
            <a:ext cx="3950208" cy="274320"/>
          </a:xfrm>
          <a:prstGeom prst="rect">
            <a:avLst/>
          </a:prstGeom>
          <a:noFill/>
          <a:ln/>
        </p:spPr>
        <p:txBody>
          <a:bodyPr wrap="square" rtlCol="0" anchor="ctr"/>
          <a:lstStyle/>
          <a:p>
            <a:pPr marL="0" indent="0">
              <a:buNone/>
            </a:pPr>
            <a:r>
              <a:rPr lang="en-US" sz="1200" b="1" dirty="0">
                <a:solidFill>
                  <a:srgbClr val="52B788"/>
                </a:solidFill>
              </a:rPr>
              <a:t>Community First</a:t>
            </a:r>
            <a:endParaRPr lang="en-US" sz="1200" dirty="0"/>
          </a:p>
        </p:txBody>
      </p:sp>
      <p:sp>
        <p:nvSpPr>
          <p:cNvPr id="20" name="Text 18"/>
          <p:cNvSpPr/>
          <p:nvPr/>
        </p:nvSpPr>
        <p:spPr>
          <a:xfrm>
            <a:off x="420624" y="4206240"/>
            <a:ext cx="3950208" cy="658368"/>
          </a:xfrm>
          <a:prstGeom prst="rect">
            <a:avLst/>
          </a:prstGeom>
          <a:noFill/>
          <a:ln/>
        </p:spPr>
        <p:txBody>
          <a:bodyPr wrap="square" rtlCol="0" anchor="ctr"/>
          <a:lstStyle/>
          <a:p>
            <a:pPr marL="0" indent="0">
              <a:buNone/>
            </a:pPr>
            <a:r>
              <a:rPr lang="en-US" sz="1050" dirty="0">
                <a:solidFill>
                  <a:srgbClr val="F0F4EF"/>
                </a:solidFill>
              </a:rPr>
              <a:t>Every major decision gets filtered through one question: does this help Kaufman County? If not, we reconsider.</a:t>
            </a:r>
            <a:endParaRPr lang="en-US" sz="1050" dirty="0"/>
          </a:p>
        </p:txBody>
      </p:sp>
      <p:sp>
        <p:nvSpPr>
          <p:cNvPr id="21" name="Shape 19"/>
          <p:cNvSpPr/>
          <p:nvPr/>
        </p:nvSpPr>
        <p:spPr>
          <a:xfrm>
            <a:off x="4718304" y="3803904"/>
            <a:ext cx="4224528" cy="1152144"/>
          </a:xfrm>
          <a:prstGeom prst="rect">
            <a:avLst/>
          </a:prstGeom>
          <a:solidFill>
            <a:srgbClr val="1B4332"/>
          </a:solidFill>
          <a:ln w="12700">
            <a:solidFill>
              <a:srgbClr val="2D6A4F"/>
            </a:solidFill>
            <a:prstDash val="solid"/>
          </a:ln>
        </p:spPr>
        <p:txBody>
          <a:bodyPr/>
          <a:lstStyle/>
          <a:p>
            <a:endParaRPr lang="en-US"/>
          </a:p>
        </p:txBody>
      </p:sp>
      <p:sp>
        <p:nvSpPr>
          <p:cNvPr id="22" name="Shape 20"/>
          <p:cNvSpPr/>
          <p:nvPr/>
        </p:nvSpPr>
        <p:spPr>
          <a:xfrm>
            <a:off x="4718304" y="3803904"/>
            <a:ext cx="64008" cy="1152144"/>
          </a:xfrm>
          <a:prstGeom prst="rect">
            <a:avLst/>
          </a:prstGeom>
          <a:solidFill>
            <a:srgbClr val="52B788"/>
          </a:solidFill>
          <a:ln w="12700">
            <a:solidFill>
              <a:srgbClr val="52B788"/>
            </a:solidFill>
            <a:prstDash val="solid"/>
          </a:ln>
        </p:spPr>
        <p:txBody>
          <a:bodyPr/>
          <a:lstStyle/>
          <a:p>
            <a:endParaRPr lang="en-US"/>
          </a:p>
        </p:txBody>
      </p:sp>
      <p:sp>
        <p:nvSpPr>
          <p:cNvPr id="23" name="Text 21"/>
          <p:cNvSpPr/>
          <p:nvPr/>
        </p:nvSpPr>
        <p:spPr>
          <a:xfrm>
            <a:off x="4882896" y="3895344"/>
            <a:ext cx="3950208" cy="274320"/>
          </a:xfrm>
          <a:prstGeom prst="rect">
            <a:avLst/>
          </a:prstGeom>
          <a:noFill/>
          <a:ln/>
        </p:spPr>
        <p:txBody>
          <a:bodyPr wrap="square" rtlCol="0" anchor="ctr"/>
          <a:lstStyle/>
          <a:p>
            <a:pPr marL="0" indent="0">
              <a:buNone/>
            </a:pPr>
            <a:r>
              <a:rPr lang="en-US" sz="1200" b="1" dirty="0">
                <a:solidFill>
                  <a:srgbClr val="52B788"/>
                </a:solidFill>
              </a:rPr>
              <a:t>Ownership Mentality</a:t>
            </a:r>
            <a:endParaRPr lang="en-US" sz="1200" dirty="0"/>
          </a:p>
        </p:txBody>
      </p:sp>
      <p:sp>
        <p:nvSpPr>
          <p:cNvPr id="24" name="Text 22"/>
          <p:cNvSpPr/>
          <p:nvPr/>
        </p:nvSpPr>
        <p:spPr>
          <a:xfrm>
            <a:off x="4882896" y="4206240"/>
            <a:ext cx="3950208" cy="658368"/>
          </a:xfrm>
          <a:prstGeom prst="rect">
            <a:avLst/>
          </a:prstGeom>
          <a:noFill/>
          <a:ln/>
        </p:spPr>
        <p:txBody>
          <a:bodyPr wrap="square" rtlCol="0" anchor="ctr"/>
          <a:lstStyle/>
          <a:p>
            <a:pPr marL="0" indent="0">
              <a:buNone/>
            </a:pPr>
            <a:r>
              <a:rPr lang="en-US" sz="1050" dirty="0">
                <a:solidFill>
                  <a:srgbClr val="F0F4EF"/>
                </a:solidFill>
              </a:rPr>
              <a:t>We're a small team. Everyone's name is on the outcome. We don't pass problems — we solve them.</a:t>
            </a:r>
            <a:endParaRPr lang="en-US" sz="1050" dirty="0"/>
          </a:p>
        </p:txBody>
      </p:sp>
      <p:pic>
        <p:nvPicPr>
          <p:cNvPr id="28" name="Audio 27">
            <a:extLst>
              <a:ext uri="{FF2B5EF4-FFF2-40B4-BE49-F238E27FC236}">
                <a16:creationId xmlns:a16="http://schemas.microsoft.com/office/drawing/2014/main" id="{81B6955D-A12E-7F95-585B-FDCF9D4840B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53"/>
    </mc:Choice>
    <mc:Fallback>
      <p:transition spd="slow" advTm="368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WRAP UP</a:t>
            </a:r>
            <a:endParaRPr lang="en-US" sz="900" dirty="0"/>
          </a:p>
        </p:txBody>
      </p:sp>
      <p:sp>
        <p:nvSpPr>
          <p:cNvPr id="6" name="Text 4"/>
          <p:cNvSpPr/>
          <p:nvPr/>
        </p:nvSpPr>
        <p:spPr>
          <a:xfrm>
            <a:off x="365760" y="530352"/>
            <a:ext cx="5303520" cy="1005840"/>
          </a:xfrm>
          <a:prstGeom prst="rect">
            <a:avLst/>
          </a:prstGeom>
          <a:noFill/>
          <a:ln/>
        </p:spPr>
        <p:txBody>
          <a:bodyPr wrap="square" rtlCol="0" anchor="ctr"/>
          <a:lstStyle/>
          <a:p>
            <a:pPr marL="0" indent="0">
              <a:buNone/>
            </a:pPr>
            <a:r>
              <a:rPr lang="en-US" sz="2800" b="1" dirty="0">
                <a:solidFill>
                  <a:srgbClr val="FFFFFF"/>
                </a:solidFill>
              </a:rPr>
              <a:t>Ready to Grow Something</a:t>
            </a:r>
            <a:endParaRPr lang="en-US" sz="2800" dirty="0"/>
          </a:p>
          <a:p>
            <a:pPr marL="0" indent="0">
              <a:buNone/>
            </a:pPr>
            <a:r>
              <a:rPr lang="en-US" sz="2800" b="1" dirty="0">
                <a:solidFill>
                  <a:srgbClr val="FFFFFF"/>
                </a:solidFill>
              </a:rPr>
              <a:t>That Lasts?</a:t>
            </a:r>
            <a:endParaRPr lang="en-US" sz="2800" dirty="0"/>
          </a:p>
        </p:txBody>
      </p:sp>
      <p:sp>
        <p:nvSpPr>
          <p:cNvPr id="7" name="Text 5"/>
          <p:cNvSpPr/>
          <p:nvPr/>
        </p:nvSpPr>
        <p:spPr>
          <a:xfrm>
            <a:off x="365760" y="1600200"/>
            <a:ext cx="5303520" cy="713232"/>
          </a:xfrm>
          <a:prstGeom prst="rect">
            <a:avLst/>
          </a:prstGeom>
          <a:noFill/>
          <a:ln/>
        </p:spPr>
        <p:txBody>
          <a:bodyPr wrap="square" rtlCol="0" anchor="ctr"/>
          <a:lstStyle/>
          <a:p>
            <a:pPr marL="0" indent="0">
              <a:buNone/>
            </a:pPr>
            <a:r>
              <a:rPr lang="en-US" sz="1300" i="1" dirty="0">
                <a:solidFill>
                  <a:srgbClr val="74C69D"/>
                </a:solidFill>
              </a:rPr>
              <a:t>Golden Signature Tech Farm is hiring people who want their work</a:t>
            </a:r>
            <a:endParaRPr lang="en-US" sz="1300" dirty="0"/>
          </a:p>
          <a:p>
            <a:pPr marL="0" indent="0">
              <a:buNone/>
            </a:pPr>
            <a:r>
              <a:rPr lang="en-US" sz="1300" i="1" dirty="0">
                <a:solidFill>
                  <a:srgbClr val="74C69D"/>
                </a:solidFill>
              </a:rPr>
              <a:t>to mean something beyond a paycheck.</a:t>
            </a:r>
            <a:endParaRPr lang="en-US" sz="1300" dirty="0"/>
          </a:p>
        </p:txBody>
      </p:sp>
      <p:sp>
        <p:nvSpPr>
          <p:cNvPr id="8" name="Shape 6"/>
          <p:cNvSpPr/>
          <p:nvPr/>
        </p:nvSpPr>
        <p:spPr>
          <a:xfrm>
            <a:off x="365760" y="2487168"/>
            <a:ext cx="4937760" cy="914400"/>
          </a:xfrm>
          <a:prstGeom prst="rect">
            <a:avLst/>
          </a:prstGeom>
          <a:solidFill>
            <a:srgbClr val="2D6A4F"/>
          </a:solidFill>
          <a:ln w="12700">
            <a:solidFill>
              <a:srgbClr val="52B788"/>
            </a:solidFill>
            <a:prstDash val="solid"/>
          </a:ln>
        </p:spPr>
        <p:txBody>
          <a:bodyPr/>
          <a:lstStyle/>
          <a:p>
            <a:endParaRPr lang="en-US"/>
          </a:p>
        </p:txBody>
      </p:sp>
      <p:sp>
        <p:nvSpPr>
          <p:cNvPr id="9" name="Text 7"/>
          <p:cNvSpPr/>
          <p:nvPr/>
        </p:nvSpPr>
        <p:spPr>
          <a:xfrm>
            <a:off x="502920" y="2615184"/>
            <a:ext cx="1828800" cy="274320"/>
          </a:xfrm>
          <a:prstGeom prst="rect">
            <a:avLst/>
          </a:prstGeom>
          <a:noFill/>
          <a:ln/>
        </p:spPr>
        <p:txBody>
          <a:bodyPr wrap="square" rtlCol="0" anchor="ctr"/>
          <a:lstStyle/>
          <a:p>
            <a:pPr marL="0" indent="0">
              <a:buNone/>
            </a:pPr>
            <a:r>
              <a:rPr lang="en-US" sz="1100" dirty="0">
                <a:solidFill>
                  <a:srgbClr val="A8B5A2"/>
                </a:solidFill>
              </a:rPr>
              <a:t>Apply or connect:</a:t>
            </a:r>
            <a:endParaRPr lang="en-US" sz="1100" dirty="0"/>
          </a:p>
        </p:txBody>
      </p:sp>
      <p:sp>
        <p:nvSpPr>
          <p:cNvPr id="10" name="Text 8"/>
          <p:cNvSpPr/>
          <p:nvPr/>
        </p:nvSpPr>
        <p:spPr>
          <a:xfrm>
            <a:off x="2304288" y="2615184"/>
            <a:ext cx="2880360" cy="274320"/>
          </a:xfrm>
          <a:prstGeom prst="rect">
            <a:avLst/>
          </a:prstGeom>
          <a:noFill/>
          <a:ln/>
        </p:spPr>
        <p:txBody>
          <a:bodyPr wrap="square" rtlCol="0" anchor="ctr"/>
          <a:lstStyle/>
          <a:p>
            <a:pPr marL="0" indent="0">
              <a:buNone/>
            </a:pPr>
            <a:r>
              <a:rPr lang="en-US" sz="1150" b="1" dirty="0">
                <a:solidFill>
                  <a:srgbClr val="52B788"/>
                </a:solidFill>
              </a:rPr>
              <a:t>goldensignaturetechfarm@gmail.com</a:t>
            </a:r>
            <a:endParaRPr lang="en-US" sz="1150" dirty="0"/>
          </a:p>
        </p:txBody>
      </p:sp>
      <p:sp>
        <p:nvSpPr>
          <p:cNvPr id="11" name="Text 9"/>
          <p:cNvSpPr/>
          <p:nvPr/>
        </p:nvSpPr>
        <p:spPr>
          <a:xfrm>
            <a:off x="502920" y="2926080"/>
            <a:ext cx="4663440" cy="256032"/>
          </a:xfrm>
          <a:prstGeom prst="rect">
            <a:avLst/>
          </a:prstGeom>
          <a:noFill/>
          <a:ln/>
        </p:spPr>
        <p:txBody>
          <a:bodyPr wrap="square" rtlCol="0" anchor="ctr"/>
          <a:lstStyle/>
          <a:p>
            <a:pPr marL="0" indent="0">
              <a:buNone/>
            </a:pPr>
            <a:r>
              <a:rPr lang="en-US" sz="1050" dirty="0">
                <a:solidFill>
                  <a:srgbClr val="A8B5A2"/>
                </a:solidFill>
              </a:rPr>
              <a:t>Kemp, Texas  ·  Kaufman County</a:t>
            </a:r>
            <a:endParaRPr lang="en-US" sz="1050" dirty="0"/>
          </a:p>
        </p:txBody>
      </p:sp>
      <p:sp>
        <p:nvSpPr>
          <p:cNvPr id="12" name="Shape 10"/>
          <p:cNvSpPr/>
          <p:nvPr/>
        </p:nvSpPr>
        <p:spPr>
          <a:xfrm>
            <a:off x="365760" y="3566160"/>
            <a:ext cx="8412480" cy="36576"/>
          </a:xfrm>
          <a:prstGeom prst="rect">
            <a:avLst/>
          </a:prstGeom>
          <a:solidFill>
            <a:srgbClr val="1B4332"/>
          </a:solidFill>
          <a:ln w="12700">
            <a:solidFill>
              <a:srgbClr val="1B4332"/>
            </a:solidFill>
            <a:prstDash val="solid"/>
          </a:ln>
        </p:spPr>
        <p:txBody>
          <a:bodyPr/>
          <a:lstStyle/>
          <a:p>
            <a:endParaRPr lang="en-US"/>
          </a:p>
        </p:txBody>
      </p:sp>
      <p:sp>
        <p:nvSpPr>
          <p:cNvPr id="13" name="Text 11"/>
          <p:cNvSpPr/>
          <p:nvPr/>
        </p:nvSpPr>
        <p:spPr>
          <a:xfrm>
            <a:off x="365760" y="3639312"/>
            <a:ext cx="8412480" cy="256032"/>
          </a:xfrm>
          <a:prstGeom prst="rect">
            <a:avLst/>
          </a:prstGeom>
          <a:noFill/>
          <a:ln/>
        </p:spPr>
        <p:txBody>
          <a:bodyPr wrap="square" rtlCol="0" anchor="ctr"/>
          <a:lstStyle/>
          <a:p>
            <a:pPr marL="0" indent="0">
              <a:buNone/>
            </a:pPr>
            <a:r>
              <a:rPr lang="en-US" sz="1100" b="1" dirty="0">
                <a:solidFill>
                  <a:srgbClr val="52B788"/>
                </a:solidFill>
              </a:rPr>
              <a:t>References</a:t>
            </a:r>
            <a:endParaRPr lang="en-US" sz="1100" dirty="0"/>
          </a:p>
        </p:txBody>
      </p:sp>
      <p:sp>
        <p:nvSpPr>
          <p:cNvPr id="14" name="Text 12"/>
          <p:cNvSpPr/>
          <p:nvPr/>
        </p:nvSpPr>
        <p:spPr>
          <a:xfrm>
            <a:off x="365760" y="3931920"/>
            <a:ext cx="8412480" cy="256032"/>
          </a:xfrm>
          <a:prstGeom prst="rect">
            <a:avLst/>
          </a:prstGeom>
          <a:noFill/>
          <a:ln/>
        </p:spPr>
        <p:txBody>
          <a:bodyPr wrap="square" rtlCol="0" anchor="ctr"/>
          <a:lstStyle/>
          <a:p>
            <a:pPr marL="0" indent="0">
              <a:buNone/>
            </a:pPr>
            <a:r>
              <a:rPr lang="en-US" sz="820" dirty="0">
                <a:solidFill>
                  <a:srgbClr val="A8B5A2"/>
                </a:solidFill>
              </a:rPr>
              <a:t>Gensler. (2024). Gensler U.S. workplace survey 2024. Gensler Research Institute. https://www.gensler.com/research-insight/workplace-surveys/us</a:t>
            </a:r>
            <a:endParaRPr lang="en-US" sz="820" dirty="0"/>
          </a:p>
        </p:txBody>
      </p:sp>
      <p:sp>
        <p:nvSpPr>
          <p:cNvPr id="15" name="Text 13"/>
          <p:cNvSpPr/>
          <p:nvPr/>
        </p:nvSpPr>
        <p:spPr>
          <a:xfrm>
            <a:off x="365760" y="4206240"/>
            <a:ext cx="8412480" cy="256032"/>
          </a:xfrm>
          <a:prstGeom prst="rect">
            <a:avLst/>
          </a:prstGeom>
          <a:noFill/>
          <a:ln/>
        </p:spPr>
        <p:txBody>
          <a:bodyPr wrap="square" rtlCol="0" anchor="ctr"/>
          <a:lstStyle/>
          <a:p>
            <a:pPr marL="0" indent="0">
              <a:buNone/>
            </a:pPr>
            <a:r>
              <a:rPr lang="en-US" sz="820" dirty="0">
                <a:solidFill>
                  <a:srgbClr val="A8B5A2"/>
                </a:solidFill>
              </a:rPr>
              <a:t>Pink, D. H. (2009). Drive: The surprising truth about what motivates us. Riverhead Books.</a:t>
            </a:r>
            <a:endParaRPr lang="en-US" sz="820" dirty="0"/>
          </a:p>
        </p:txBody>
      </p:sp>
      <p:sp>
        <p:nvSpPr>
          <p:cNvPr id="16" name="Text 14"/>
          <p:cNvSpPr/>
          <p:nvPr/>
        </p:nvSpPr>
        <p:spPr>
          <a:xfrm>
            <a:off x="365760" y="4480560"/>
            <a:ext cx="8412480" cy="256032"/>
          </a:xfrm>
          <a:prstGeom prst="rect">
            <a:avLst/>
          </a:prstGeom>
          <a:noFill/>
          <a:ln/>
        </p:spPr>
        <p:txBody>
          <a:bodyPr wrap="square" rtlCol="0" anchor="ctr"/>
          <a:lstStyle/>
          <a:p>
            <a:pPr marL="0" indent="0">
              <a:buNone/>
            </a:pPr>
            <a:r>
              <a:rPr lang="en-US" sz="820" dirty="0">
                <a:solidFill>
                  <a:srgbClr val="A8B5A2"/>
                </a:solidFill>
              </a:rPr>
              <a:t>Kellert, S. R., Heerwagen, J., &amp; Mador, M. (2008). Biophilic design: The theory, science and practice of bringing buildings to life. Wiley.</a:t>
            </a:r>
            <a:endParaRPr lang="en-US" sz="820" dirty="0"/>
          </a:p>
        </p:txBody>
      </p:sp>
      <p:sp>
        <p:nvSpPr>
          <p:cNvPr id="17" name="Text 15"/>
          <p:cNvSpPr/>
          <p:nvPr/>
        </p:nvSpPr>
        <p:spPr>
          <a:xfrm>
            <a:off x="365760" y="4754880"/>
            <a:ext cx="8412480" cy="256032"/>
          </a:xfrm>
          <a:prstGeom prst="rect">
            <a:avLst/>
          </a:prstGeom>
          <a:noFill/>
          <a:ln/>
        </p:spPr>
        <p:txBody>
          <a:bodyPr wrap="square" rtlCol="0" anchor="ctr"/>
          <a:lstStyle/>
          <a:p>
            <a:pPr marL="0" indent="0">
              <a:buNone/>
            </a:pPr>
            <a:r>
              <a:rPr lang="en-US" sz="820" dirty="0">
                <a:solidFill>
                  <a:srgbClr val="A8B5A2"/>
                </a:solidFill>
              </a:rPr>
              <a:t>USDA Economic Research Service. (2023). Rural economy and agriculture. https://www.ers.usda.gov</a:t>
            </a:r>
            <a:endParaRPr lang="en-US" sz="820" dirty="0"/>
          </a:p>
        </p:txBody>
      </p:sp>
      <p:sp>
        <p:nvSpPr>
          <p:cNvPr id="18" name="Shape 16"/>
          <p:cNvSpPr/>
          <p:nvPr/>
        </p:nvSpPr>
        <p:spPr>
          <a:xfrm>
            <a:off x="6035040" y="411480"/>
            <a:ext cx="2834640" cy="2834640"/>
          </a:xfrm>
          <a:prstGeom prst="ellipse">
            <a:avLst/>
          </a:prstGeom>
          <a:solidFill>
            <a:srgbClr val="1B4332"/>
          </a:solidFill>
          <a:ln w="25400">
            <a:solidFill>
              <a:srgbClr val="52B788"/>
            </a:solidFill>
            <a:prstDash val="solid"/>
          </a:ln>
        </p:spPr>
        <p:txBody>
          <a:bodyPr/>
          <a:lstStyle/>
          <a:p>
            <a:endParaRPr lang="en-US"/>
          </a:p>
        </p:txBody>
      </p:sp>
      <p:sp>
        <p:nvSpPr>
          <p:cNvPr id="19" name="Text 17"/>
          <p:cNvSpPr/>
          <p:nvPr/>
        </p:nvSpPr>
        <p:spPr>
          <a:xfrm>
            <a:off x="6035040" y="548640"/>
            <a:ext cx="2834640" cy="1371600"/>
          </a:xfrm>
          <a:prstGeom prst="rect">
            <a:avLst/>
          </a:prstGeom>
          <a:noFill/>
          <a:ln/>
        </p:spPr>
        <p:txBody>
          <a:bodyPr wrap="square" rtlCol="0" anchor="ctr"/>
          <a:lstStyle/>
          <a:p>
            <a:pPr marL="0" indent="0" algn="ctr">
              <a:buNone/>
            </a:pPr>
            <a:r>
              <a:rPr lang="en-US" sz="5000" dirty="0">
                <a:solidFill>
                  <a:srgbClr val="000000"/>
                </a:solidFill>
              </a:rPr>
              <a:t>🌱</a:t>
            </a:r>
            <a:endParaRPr lang="en-US" sz="5000" dirty="0"/>
          </a:p>
        </p:txBody>
      </p:sp>
      <p:sp>
        <p:nvSpPr>
          <p:cNvPr id="20" name="Text 18"/>
          <p:cNvSpPr/>
          <p:nvPr/>
        </p:nvSpPr>
        <p:spPr>
          <a:xfrm>
            <a:off x="6035040" y="1828800"/>
            <a:ext cx="2834640" cy="1097280"/>
          </a:xfrm>
          <a:prstGeom prst="rect">
            <a:avLst/>
          </a:prstGeom>
          <a:noFill/>
          <a:ln/>
        </p:spPr>
        <p:txBody>
          <a:bodyPr wrap="square" rtlCol="0" anchor="ctr"/>
          <a:lstStyle/>
          <a:p>
            <a:pPr marL="0" indent="0" algn="ctr">
              <a:buNone/>
            </a:pPr>
            <a:r>
              <a:rPr lang="en-US" sz="4200" dirty="0">
                <a:solidFill>
                  <a:srgbClr val="000000"/>
                </a:solidFill>
              </a:rPr>
              <a:t>💡</a:t>
            </a:r>
            <a:endParaRPr lang="en-US" sz="4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1731</Words>
  <Application>Microsoft Macintosh PowerPoint</Application>
  <PresentationFormat>On-screen Show (16:9)</PresentationFormat>
  <Paragraphs>118</Paragraphs>
  <Slides>7</Slides>
  <Notes>7</Notes>
  <HiddenSlides>0</HiddenSlides>
  <MMClips>6</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Golden Signature Tech Farm — Work Environment</dc:title>
  <dc:subject>PptxGenJS Presentation</dc:subject>
  <dc:creator>Nyce</dc:creator>
  <cp:lastModifiedBy>Jeremy Wilson</cp:lastModifiedBy>
  <cp:revision>2</cp:revision>
  <dcterms:created xsi:type="dcterms:W3CDTF">2026-03-30T02:34:38Z</dcterms:created>
  <dcterms:modified xsi:type="dcterms:W3CDTF">2026-03-30T03:04:58Z</dcterms:modified>
</cp:coreProperties>
</file>